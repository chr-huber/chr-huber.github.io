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5" r:id="rId4"/>
    <p:sldId id="284" r:id="rId5"/>
    <p:sldId id="258" r:id="rId6"/>
    <p:sldId id="259" r:id="rId7"/>
    <p:sldId id="287" r:id="rId8"/>
    <p:sldId id="272" r:id="rId9"/>
    <p:sldId id="283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82" r:id="rId18"/>
    <p:sldId id="275" r:id="rId19"/>
    <p:sldId id="276" r:id="rId20"/>
    <p:sldId id="291" r:id="rId21"/>
    <p:sldId id="260" r:id="rId22"/>
    <p:sldId id="288" r:id="rId23"/>
    <p:sldId id="261" r:id="rId24"/>
    <p:sldId id="266" r:id="rId25"/>
    <p:sldId id="263" r:id="rId26"/>
    <p:sldId id="271" r:id="rId27"/>
    <p:sldId id="290" r:id="rId28"/>
    <p:sldId id="289" r:id="rId29"/>
    <p:sldId id="267" r:id="rId30"/>
    <p:sldId id="292" r:id="rId31"/>
    <p:sldId id="296" r:id="rId32"/>
    <p:sldId id="297" r:id="rId33"/>
    <p:sldId id="295" r:id="rId34"/>
    <p:sldId id="269" r:id="rId35"/>
    <p:sldId id="268" r:id="rId36"/>
    <p:sldId id="262" r:id="rId37"/>
    <p:sldId id="264" r:id="rId38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44" autoAdjust="0"/>
  </p:normalViewPr>
  <p:slideViewPr>
    <p:cSldViewPr snapToGrid="0">
      <p:cViewPr varScale="1">
        <p:scale>
          <a:sx n="92" d="100"/>
          <a:sy n="92" d="100"/>
        </p:scale>
        <p:origin x="3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A57C3-BE43-4B51-9A49-3B5D6A82629B}" type="datetimeFigureOut">
              <a:rPr lang="en-FI" smtClean="0"/>
              <a:t>31/08/2026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7E99A-240E-4A0A-833D-334ECBBC22A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390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66380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6153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680D-DD6C-CB6C-26FA-24E5E8A4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B3AF-51CD-2E76-0726-CA31D9E5D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A046E-5A3F-48FE-AFAC-E718B21DD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BCF76-ABE5-CDE9-E569-ABE21C3CE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9923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D14C-5F5F-EE98-E444-DD721CD6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654E3-7715-5726-25DC-7AF5B1427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1F81B-4CA6-0106-DBCE-919324BB9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174C6-794E-5B65-9BFD-A35F1D647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9198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54489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5962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63251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94256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29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04225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30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62015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31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33732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F696-0AC7-ED63-FAE0-DDF02002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D6EA8-E9AA-2269-7239-AC4ED2B0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8E472-FC3C-B3FA-9F32-AE0434628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E62F-E347-B6BA-9D76-A60D49104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7E99A-240E-4A0A-833D-334ECBBC22A0}" type="slidenum">
              <a:rPr lang="en-FI" smtClean="0"/>
              <a:t>32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2609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E58E-AA9B-7D75-ECD6-7735C6C4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08E68-B727-1FD4-1091-0143D3B17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264D-E080-A5F0-5528-86BB9B29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697F-2730-4AF1-88F7-BB1B5F8ECCC5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D44E-EFFE-75F8-8EE9-3BF466D9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55CBD-D80F-590D-78B8-6CEC219C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8286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2EAF-8CBA-1E5B-C317-4BD6EF9E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AFEFC-5979-E6D6-EF61-EBD0E3DA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A9125-EAC9-3FB2-C797-82C8C8C1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FF8-ED89-4AF3-A2FE-D455646C1744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96C0-539E-EEF4-A943-B8A6DA6B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0467-EBE5-E13C-D5A6-A95D8777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0013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107B-B2D6-2901-36AD-0EA56AE5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B9EA9-4235-3625-F075-4D2E64B89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C4567-39C3-0010-0A50-B88062F0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24B3-6FB9-4AE8-9853-11C2601275AE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8F41-2A3E-A2AC-372B-601A4995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DA57-2E9D-9A95-8346-A7E460C1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36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3B4-7540-7F81-D26F-9E36F196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E694-D367-4BF3-86BE-574787FA9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9D2E6-B56F-A1CB-9AA6-83F07039B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2A3DD-A73D-FED6-27BE-06483889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8D9D-52F1-435C-B12C-46A0776D0450}" type="datetime8">
              <a:rPr lang="en-FI" smtClean="0"/>
              <a:t>31/08/2026 9.18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9B5D0-D53A-C8F2-954D-6ED2F2D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F3274-2500-64A4-2F9E-225F1184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8546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F04D-2358-0200-AC54-552974D0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FA18D-B72D-12BA-6ED4-0B216B43B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FA8B2-5D7A-FC67-ED21-406660423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08CEE0-5403-4EA8-1C39-5A799E4B5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5C0D0-57A7-6218-5519-74DD38A8C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8F68C-DB20-56A9-AED7-D9983E4A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EA497-A4AD-4D4F-B443-B927F927B306}" type="datetime8">
              <a:rPr lang="en-FI" smtClean="0"/>
              <a:t>31/08/2026 9.18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6D4A7-B2B4-6170-DE7F-156D5E2E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F2C6F-70B7-CCB9-3F48-969092B2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8288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160D-3BBF-E4BA-4F1A-202FB6CB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5B0B2-4C2D-865E-0183-912430C3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15E1-4BD7-48C1-B167-0869006FCC53}" type="datetime8">
              <a:rPr lang="en-FI" smtClean="0"/>
              <a:t>31/08/2026 9.18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0F867-EDA3-A174-1EED-A7247406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9066D-63A8-9626-C8D0-062B3480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500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55940-288E-651F-C9D0-C073B068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290C-887C-4D09-BC54-90A5B54F007A}" type="datetime8">
              <a:rPr lang="en-FI" smtClean="0"/>
              <a:t>31/08/2026 9.18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A0B91-C05F-7CB0-C14B-413C7DE7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A0831-BF0D-874F-8D9C-9DDDD0EF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5444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8B32-E8FA-2715-938F-D6EAC083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B7DE-7D9B-6F6B-6E04-A154D81D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9A77C-DDD9-49BB-2E3B-ABF234B45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6BAC-7BF7-6EDC-892B-8BE8B358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A6404-15A4-4A90-A564-1B2D473123EE}" type="datetime8">
              <a:rPr lang="en-FI" smtClean="0"/>
              <a:t>31/08/2026 9.18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D2764-22E9-D4B7-1D9D-1D286990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C05EB-3E1D-B130-A7FF-37C22AF7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2512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F6C9-659D-5778-46D2-A47BD4BC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77D0B5-FAEF-145C-DAA7-F703138B6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CF643-BC8D-AE9A-2E02-5E27C34F2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C525A-700D-5E13-4E38-3403A705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9757-DCED-4989-8E53-11E599DB1443}" type="datetime8">
              <a:rPr lang="en-FI" smtClean="0"/>
              <a:t>31/08/2026 9.18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5B4F7-A03E-4C16-2F4B-AF7678E9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A62A8-646D-DCCB-6E67-B56D6B6D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9121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5AD1-BB53-1739-8A87-3BFF64DF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50902-151E-6FBD-76BA-AF40FEF4A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3344-7901-5EC9-64AA-388CCF2B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32EC-6693-4479-8497-E8CCAAB88D5B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BEFCF-0A60-B6F9-9A30-04E6DF13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81621-F9C0-56AA-DCE4-D905FF7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9669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9913C-82C4-9827-0B1E-87403C6BA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17EAE-277B-D136-3F16-36E76C1EA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C3924-5807-F763-E692-3D05CA30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75B0-FA21-4C76-B00D-5B7164D8CFDF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C5BB3-CECE-5673-4033-734B4234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2A04-07E8-BE09-2116-6B2B0A06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3061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E6C5D-32F3-05DE-A70F-5ADAC3B4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B2F01-C325-FA61-E6C8-D750B0FB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BB84-FFD7-E4DF-3268-1891D88B2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7385D-3822-4684-B617-F7228FD759B8}" type="datetime8">
              <a:rPr lang="en-FI" smtClean="0"/>
              <a:t>31/08/2026 9.18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25141-6F7D-0A08-0C23-0D0B296AB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9DF04-C9BE-6088-3A86-7160382FD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F2C44-E9FE-4226-9AD0-5CEB6EFFCA1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939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9C7A-8779-85E5-5657-476375C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05317"/>
          </a:xfrm>
        </p:spPr>
        <p:txBody>
          <a:bodyPr/>
          <a:lstStyle/>
          <a:p>
            <a:r>
              <a:rPr lang="en-FI" dirty="0"/>
              <a:t>Information Environments and Asset Markets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59944-7C6D-A167-8DD4-78BDD57AB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87095"/>
          </a:xfrm>
        </p:spPr>
        <p:txBody>
          <a:bodyPr>
            <a:normAutofit lnSpcReduction="10000"/>
          </a:bodyPr>
          <a:lstStyle/>
          <a:p>
            <a:r>
              <a:rPr lang="en-FI" dirty="0"/>
              <a:t>Christoph Huber, Debrah </a:t>
            </a:r>
            <a:r>
              <a:rPr lang="en-FI" dirty="0" err="1"/>
              <a:t>Meloso</a:t>
            </a:r>
            <a:r>
              <a:rPr lang="en-FI" dirty="0"/>
              <a:t>, Michael Ungeheuer</a:t>
            </a:r>
          </a:p>
          <a:p>
            <a:endParaRPr lang="en-FI" dirty="0"/>
          </a:p>
          <a:p>
            <a:r>
              <a:rPr lang="en-FI" dirty="0"/>
              <a:t>Experimental Finance 2026</a:t>
            </a:r>
          </a:p>
          <a:p>
            <a:endParaRPr lang="en-FI" dirty="0"/>
          </a:p>
          <a:p>
            <a:r>
              <a:rPr lang="en-FI" dirty="0"/>
              <a:t>Toulouse</a:t>
            </a:r>
          </a:p>
          <a:p>
            <a:r>
              <a:rPr lang="en-FI" dirty="0"/>
              <a:t>15 June, 2026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90757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E006E-10FC-1C12-A332-CE11309DB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3" y="3389523"/>
            <a:ext cx="4628898" cy="3010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B175CE-7A2A-FAA3-CF1E-8172DAD78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5610-EA46-1D4F-C729-23488787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Investors learn about asset returns in different ways</a:t>
            </a:r>
          </a:p>
          <a:p>
            <a:endParaRPr lang="en-FI" dirty="0"/>
          </a:p>
          <a:p>
            <a:pPr lvl="1"/>
            <a:r>
              <a:rPr lang="en-FI" b="1" dirty="0"/>
              <a:t>Sequential</a:t>
            </a:r>
            <a:r>
              <a:rPr lang="en-FI" dirty="0"/>
              <a:t> — historical charts, earnings announcements over time, etc.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7C05D37-F0D4-3E22-4510-4F9FB9EC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</a:t>
            </a:fld>
            <a:endParaRPr lang="en-FI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D3079-8A84-FAD1-30C5-EE62EAAFE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40" y="3210401"/>
            <a:ext cx="5676506" cy="3647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CA832-22D6-89B5-023D-D9364E46D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040" y="3247285"/>
            <a:ext cx="5659119" cy="329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9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0558-D083-85C7-3981-0B21EAD0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26E8-B9BB-1191-B174-5EDF8B51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7840-FEA4-522F-BC4C-9637380B0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Investors learn about asset returns in different ways</a:t>
            </a:r>
          </a:p>
          <a:p>
            <a:endParaRPr lang="en-FI" dirty="0"/>
          </a:p>
          <a:p>
            <a:pPr lvl="1"/>
            <a:r>
              <a:rPr lang="en-FI" b="1" dirty="0"/>
              <a:t>Simultaneous</a:t>
            </a:r>
            <a:r>
              <a:rPr lang="en-FI" dirty="0"/>
              <a:t> — distributional summaries, MiFID Key Information Docs, fact sheets, etc.</a:t>
            </a:r>
          </a:p>
        </p:txBody>
      </p:sp>
      <p:pic>
        <p:nvPicPr>
          <p:cNvPr id="2050" name="Picture 2" descr="moneyball git analytics">
            <a:extLst>
              <a:ext uri="{FF2B5EF4-FFF2-40B4-BE49-F238E27FC236}">
                <a16:creationId xmlns:a16="http://schemas.microsoft.com/office/drawing/2014/main" id="{EDF8D042-2900-95DD-1AE3-DB34AB398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317" y="3429000"/>
            <a:ext cx="5269747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B9AA1-81BA-2545-082A-4D05C64B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26" y="3720852"/>
            <a:ext cx="8977138" cy="2857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3CD51-23E5-AB82-CA96-5FBF40C6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367" y="4716501"/>
            <a:ext cx="4944393" cy="1862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FA0EC4-1DBC-A576-642F-A062150D5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234" y="3330552"/>
            <a:ext cx="3905326" cy="324804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99068A-D404-6E86-44AF-19F08CCD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</a:t>
            </a:fld>
            <a:endParaRPr lang="en-FI"/>
          </a:p>
        </p:txBody>
      </p:sp>
      <p:pic>
        <p:nvPicPr>
          <p:cNvPr id="1026" name="Picture 2" descr="Top 10 casino card and table games | GamerLimit">
            <a:extLst>
              <a:ext uri="{FF2B5EF4-FFF2-40B4-BE49-F238E27FC236}">
                <a16:creationId xmlns:a16="http://schemas.microsoft.com/office/drawing/2014/main" id="{1DE94C67-8756-3B7E-94A1-C9D536BCA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769" y="4544050"/>
            <a:ext cx="3103581" cy="199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7281D-F90E-4644-1F03-D461A1B0A1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37" y="3240076"/>
            <a:ext cx="2200834" cy="35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7A75-A7AF-6A9E-A5EC-893FAD63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8A82-DD74-1976-2E52-3C090027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40F684-C0FE-5C92-505D-BB0E9AD0FF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1374"/>
                <a:ext cx="10515600" cy="4774976"/>
              </a:xfrm>
            </p:spPr>
            <p:txBody>
              <a:bodyPr>
                <a:normAutofit/>
              </a:bodyPr>
              <a:lstStyle/>
              <a:p>
                <a:r>
                  <a:rPr lang="en-FI" dirty="0"/>
                  <a:t>Investors learn about asset returns in different ways</a:t>
                </a:r>
              </a:p>
              <a:p>
                <a:endParaRPr lang="en-FI" sz="1400" dirty="0"/>
              </a:p>
              <a:p>
                <a:pPr lvl="1"/>
                <a:r>
                  <a:rPr lang="en-FI" b="1" dirty="0"/>
                  <a:t>Sequential</a:t>
                </a:r>
                <a:r>
                  <a:rPr lang="en-FI" dirty="0"/>
                  <a:t> — historical charts, earnings announcements over time, etc.</a:t>
                </a:r>
              </a:p>
              <a:p>
                <a:pPr lvl="1"/>
                <a:r>
                  <a:rPr lang="en-FI" b="1" dirty="0"/>
                  <a:t>Simultaneous</a:t>
                </a:r>
                <a:r>
                  <a:rPr lang="en-FI" dirty="0"/>
                  <a:t> — distributional summaries, MiFID Key Information Docs, fact sheets, sports betting odds, casino gambling, etc.</a:t>
                </a:r>
              </a:p>
              <a:p>
                <a:pPr lvl="1"/>
                <a:endParaRPr lang="en-FI" sz="2800" dirty="0"/>
              </a:p>
              <a:p>
                <a:r>
                  <a:rPr lang="en-FI" dirty="0"/>
                  <a:t>Same information, but heterogeneity in information environments</a:t>
                </a:r>
              </a:p>
              <a:p>
                <a:r>
                  <a:rPr lang="en-FI" dirty="0"/>
                  <a:t>Bohren et al. (2024) find these to produce opposite biases </a:t>
                </a:r>
              </a:p>
              <a:p>
                <a:endParaRPr lang="en-FI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lang="en-FI" dirty="0"/>
                  <a:t>financial markets are full of investors with </a:t>
                </a:r>
                <a:br>
                  <a:rPr lang="en-FI" dirty="0"/>
                </a:br>
                <a:r>
                  <a:rPr lang="en-FI" dirty="0"/>
                  <a:t>      </a:t>
                </a:r>
                <a:r>
                  <a:rPr lang="en-FI" i="1" dirty="0"/>
                  <a:t>opposite</a:t>
                </a:r>
                <a:r>
                  <a:rPr lang="en-FI" dirty="0"/>
                  <a:t> biases about the </a:t>
                </a:r>
                <a:r>
                  <a:rPr lang="en-FI" i="1" dirty="0"/>
                  <a:t>same</a:t>
                </a:r>
                <a:r>
                  <a:rPr lang="en-FI" dirty="0"/>
                  <a:t> assets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40F684-C0FE-5C92-505D-BB0E9AD0F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1374"/>
                <a:ext cx="10515600" cy="4774976"/>
              </a:xfrm>
              <a:blipFill>
                <a:blip r:embed="rId2"/>
                <a:stretch>
                  <a:fillRect l="-1043" t="-2168" r="-116" b="-255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AA258-7669-140F-B06B-2AFDB31B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4445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A02E-F2EC-A091-DB62-59FDC764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Research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DFF79-0B62-025B-92C6-5AA4D7008F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FI" dirty="0"/>
                  <a:t>Bohren et al.: individual choices &amp; beliefs, no market, no prices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What if these biased investors trade with each other?</a:t>
                </a:r>
              </a:p>
              <a:p>
                <a:pPr marL="0" indent="0">
                  <a:buNone/>
                </a:pPr>
                <a:endParaRPr lang="en-FI" dirty="0"/>
              </a:p>
              <a:p>
                <a:r>
                  <a:rPr lang="en-US" dirty="0"/>
                  <a:t>Do belief distortions </a:t>
                </a:r>
                <a:r>
                  <a:rPr lang="en-FI" dirty="0"/>
                  <a:t>induced by different information environ</a:t>
                </a:r>
                <a:r>
                  <a:rPr lang="en-GB" dirty="0" err="1"/>
                  <a:t>ment</a:t>
                </a:r>
                <a:r>
                  <a:rPr lang="en-FI" dirty="0"/>
                  <a:t>s </a:t>
                </a:r>
                <a:r>
                  <a:rPr lang="en-US" dirty="0"/>
                  <a:t>survive competition, order books, real money?</a:t>
                </a:r>
                <a:endParaRPr lang="en-FI" dirty="0"/>
              </a:p>
              <a:p>
                <a:r>
                  <a:rPr lang="en-FI" dirty="0"/>
                  <a:t>Do their errors cancel out or compound?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FI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F</a:t>
                </a:r>
                <a:r>
                  <a:rPr lang="en-US" dirty="0"/>
                  <a:t>irst market-level test of information-environment-induced </a:t>
                </a:r>
                <a:br>
                  <a:rPr lang="en-FI" dirty="0"/>
                </a:br>
                <a:r>
                  <a:rPr lang="en-FI" dirty="0"/>
                  <a:t>     </a:t>
                </a:r>
                <a:r>
                  <a:rPr lang="en-US" dirty="0"/>
                  <a:t>belief heterogeneity. </a:t>
                </a:r>
                <a:endParaRPr lang="en-FI" dirty="0"/>
              </a:p>
              <a:p>
                <a:pPr marL="0" indent="0">
                  <a:buNone/>
                </a:pPr>
                <a:endParaRPr lang="en-FI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DFF79-0B62-025B-92C6-5AA4D7008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3B769-246E-6ECF-161E-1FF356FE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20433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69C8-3578-9767-13AA-0D621766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Two assets: Asset F and Asset 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7A42D-850F-FAB9-8D9C-716F7076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719" y="1533694"/>
            <a:ext cx="6065521" cy="46432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FI" b="1" dirty="0"/>
          </a:p>
          <a:p>
            <a:r>
              <a:rPr lang="en-FI" sz="3200" b="1" dirty="0"/>
              <a:t>Asset F</a:t>
            </a:r>
            <a:endParaRPr lang="en-FI" sz="3200" dirty="0"/>
          </a:p>
          <a:p>
            <a:pPr lvl="1"/>
            <a:r>
              <a:rPr lang="en-FI" sz="2600" dirty="0"/>
              <a:t>slightly ahead 10 out of 11 times</a:t>
            </a:r>
          </a:p>
          <a:p>
            <a:pPr lvl="1"/>
            <a:r>
              <a:rPr lang="en-FI" sz="2600" b="1" i="1" dirty="0"/>
              <a:t>F</a:t>
            </a:r>
            <a:r>
              <a:rPr lang="en-FI" sz="2600" i="1" dirty="0"/>
              <a:t>requent</a:t>
            </a:r>
            <a:r>
              <a:rPr lang="en-FI" sz="2600" dirty="0"/>
              <a:t> </a:t>
            </a:r>
            <a:r>
              <a:rPr lang="en-FI" sz="2600" i="1" dirty="0"/>
              <a:t>winner</a:t>
            </a:r>
          </a:p>
          <a:p>
            <a:endParaRPr lang="en-FI" b="1" dirty="0"/>
          </a:p>
          <a:p>
            <a:r>
              <a:rPr lang="en-FI" sz="3200" b="1" dirty="0"/>
              <a:t>Asset U</a:t>
            </a:r>
          </a:p>
          <a:p>
            <a:pPr lvl="1"/>
            <a:r>
              <a:rPr lang="en-FI" sz="2600" dirty="0"/>
              <a:t>dramatically ahead 1 out of 11 times</a:t>
            </a:r>
          </a:p>
          <a:p>
            <a:pPr lvl="1"/>
            <a:r>
              <a:rPr lang="en-FI" sz="2600" b="1" i="1" dirty="0"/>
              <a:t>U</a:t>
            </a:r>
            <a:r>
              <a:rPr lang="en-FI" sz="2600" i="1" dirty="0"/>
              <a:t>nlikely winner</a:t>
            </a:r>
          </a:p>
          <a:p>
            <a:endParaRPr lang="en-FI" dirty="0"/>
          </a:p>
          <a:p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0BF416-3B9B-426E-DA5B-00C7B25F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10" y="1533694"/>
            <a:ext cx="5581709" cy="496235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4D90F-8509-9B3D-BBC3-07C7DA57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6</a:t>
            </a:fld>
            <a:endParaRPr lang="en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29033-ED03-E76B-C933-C70210E45B03}"/>
              </a:ext>
            </a:extLst>
          </p:cNvPr>
          <p:cNvSpPr txBox="1"/>
          <p:nvPr/>
        </p:nvSpPr>
        <p:spPr>
          <a:xfrm>
            <a:off x="6097794" y="599229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/>
              <a:t>Structure of dependence is asymmetric</a:t>
            </a:r>
          </a:p>
        </p:txBody>
      </p:sp>
    </p:spTree>
    <p:extLst>
      <p:ext uri="{BB962C8B-B14F-4D97-AF65-F5344CB8AC3E}">
        <p14:creationId xmlns:p14="http://schemas.microsoft.com/office/powerpoint/2010/main" val="289254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4A88-4F38-1410-12F6-072CE61F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6E7E64-0451-29CC-CCC3-7435B9BB56D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FI" dirty="0"/>
                  <a:t>Two assets </a:t>
                </a: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FI" dirty="0"/>
                  <a:t> Two information environments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6E7E64-0451-29CC-CCC3-7435B9BB5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9CE6-2EAA-90E8-92E6-EC66F331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4802187"/>
          </a:xfrm>
        </p:spPr>
        <p:txBody>
          <a:bodyPr>
            <a:normAutofit/>
          </a:bodyPr>
          <a:lstStyle/>
          <a:p>
            <a:r>
              <a:rPr lang="en-FI" b="1" dirty="0"/>
              <a:t>Asset F</a:t>
            </a:r>
            <a:r>
              <a:rPr lang="en-FI" dirty="0"/>
              <a:t> — slightly ahead in 10 of 11 states, </a:t>
            </a:r>
            <a:r>
              <a:rPr lang="en-FI" b="1" i="1" dirty="0"/>
              <a:t>F</a:t>
            </a:r>
            <a:r>
              <a:rPr lang="en-FI" i="1" dirty="0"/>
              <a:t>requent</a:t>
            </a:r>
            <a:r>
              <a:rPr lang="en-FI" dirty="0"/>
              <a:t> winner</a:t>
            </a:r>
          </a:p>
          <a:p>
            <a:r>
              <a:rPr lang="en-FI" b="1" dirty="0"/>
              <a:t>Asset U</a:t>
            </a:r>
            <a:r>
              <a:rPr lang="en-FI" dirty="0"/>
              <a:t> — dramatically ahead in 1 of 11 states, </a:t>
            </a:r>
            <a:r>
              <a:rPr lang="en-FI" b="1" i="1" dirty="0"/>
              <a:t>U</a:t>
            </a:r>
            <a:r>
              <a:rPr lang="en-FI" i="1" dirty="0"/>
              <a:t>nlikely</a:t>
            </a:r>
            <a:r>
              <a:rPr lang="en-FI" dirty="0"/>
              <a:t> winner</a:t>
            </a:r>
          </a:p>
          <a:p>
            <a:endParaRPr lang="en-FI" sz="1200" b="1" dirty="0"/>
          </a:p>
          <a:p>
            <a:r>
              <a:rPr lang="en-FI" b="1" dirty="0"/>
              <a:t>Sequential</a:t>
            </a:r>
            <a:endParaRPr lang="en-FI" dirty="0"/>
          </a:p>
          <a:p>
            <a:pPr lvl="1"/>
            <a:r>
              <a:rPr lang="en-FI" dirty="0">
                <a:solidFill>
                  <a:schemeClr val="bg1"/>
                </a:solidFill>
                <a:sym typeface="Wingdings" panose="05000000000000000000" pitchFamily="2" charset="2"/>
              </a:rPr>
              <a:t>imperfect memory recall </a:t>
            </a:r>
            <a:br>
              <a:rPr lang="en-FI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en-FI" dirty="0">
                <a:solidFill>
                  <a:schemeClr val="bg1"/>
                </a:solidFill>
                <a:sym typeface="Wingdings" panose="05000000000000000000" pitchFamily="2" charset="2"/>
              </a:rPr>
              <a:t> people misremember rare outperformance of U  </a:t>
            </a:r>
            <a:r>
              <a:rPr lang="en-FI" b="1" dirty="0">
                <a:solidFill>
                  <a:schemeClr val="bg1"/>
                </a:solidFill>
                <a:sym typeface="Wingdings" panose="05000000000000000000" pitchFamily="2" charset="2"/>
              </a:rPr>
              <a:t>85% choose F</a:t>
            </a:r>
            <a:endParaRPr lang="en-FI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FI" b="1" dirty="0">
                <a:sym typeface="Wingdings" panose="05000000000000000000" pitchFamily="2" charset="2"/>
              </a:rPr>
              <a:t>Simultaneous</a:t>
            </a:r>
          </a:p>
          <a:p>
            <a:pPr lvl="1"/>
            <a:r>
              <a:rPr lang="en-FI" dirty="0">
                <a:solidFill>
                  <a:schemeClr val="bg1"/>
                </a:solidFill>
              </a:rPr>
              <a:t>limited attention </a:t>
            </a:r>
            <a:br>
              <a:rPr lang="en-FI" dirty="0">
                <a:solidFill>
                  <a:schemeClr val="bg1"/>
                </a:solidFill>
              </a:rPr>
            </a:br>
            <a:r>
              <a:rPr lang="en-FI" dirty="0">
                <a:solidFill>
                  <a:schemeClr val="bg1"/>
                </a:solidFill>
                <a:sym typeface="Wingdings" panose="05000000000000000000" pitchFamily="2" charset="2"/>
              </a:rPr>
              <a:t> people overweight salient outperformance of U  </a:t>
            </a:r>
            <a:r>
              <a:rPr lang="en-FI" b="1" dirty="0">
                <a:solidFill>
                  <a:schemeClr val="bg1"/>
                </a:solidFill>
                <a:sym typeface="Wingdings" panose="05000000000000000000" pitchFamily="2" charset="2"/>
              </a:rPr>
              <a:t>42% choose F</a:t>
            </a:r>
            <a:endParaRPr lang="en-FI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/>
            <a:endParaRPr lang="en-FI" dirty="0"/>
          </a:p>
          <a:p>
            <a:pPr marL="0" indent="0">
              <a:buNone/>
            </a:pPr>
            <a:r>
              <a:rPr lang="en-FI" sz="2400" dirty="0">
                <a:solidFill>
                  <a:schemeClr val="bg1"/>
                </a:solidFill>
              </a:rPr>
              <a:t>(Bohren, Hascher, Imas, Ungeheuer, Weber, 2024)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BAF10-8877-097F-00AE-ED6CBB95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4612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0615B6-46E1-BE74-3875-9ADFB8B71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273" y="365125"/>
            <a:ext cx="7738247" cy="6127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5350E-AD98-3E6B-6E0C-8EDA5BF2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Simultaneous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4C1B9-8FCD-AEEF-7720-FF56DEDB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9202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1717-053C-38C7-B075-D8EA1658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77F9-8A64-2CE3-B303-8D5C3FC8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A562B-1283-5EF8-087C-1F69F1DEB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8709D-03F6-D085-07A1-F538B37D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212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2425-58F4-205E-73D9-7CBFF1CB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1E5E-9803-0A6B-8072-6B4C00E9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B1CEE-AE36-E023-4242-6CCC69FEA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2836-FEA7-B93C-4B39-FBCDABAD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4633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C828-0ACD-E6E9-4926-5405959B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B0F4-004E-210B-9F6C-1CC36D23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E21AF9-D279-823D-2328-D2E4DCA1A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FA31-B3E8-279C-5642-CF31182A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9231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9586-2D7E-29FA-2804-38150311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6770-4888-BEDD-1C20-EB29AE21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3CF6A7-02C5-0C9D-A1BC-0E50EC1B5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BEEC8-5A74-8F1B-2D44-0374006F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2575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77A7-51C7-4966-1B22-624EA832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B7DB-B1E8-ABA2-622B-6F231E03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8CB0E-1E9B-9900-9405-CF3CC71A5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6D967-744C-7AD3-1D4F-FBC89363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7418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F13F-8085-EF2F-F2CF-44DD5261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5DDF-3B22-C352-B5C6-538E1E55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678133-E289-0C38-F300-71E6BAC42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C91-5F10-ABAD-872B-E2CC5D2E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6526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748B-2068-9C40-D147-50A42812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31F2-5E30-4058-9427-03FCE9BA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615010-FA78-0512-A63E-D441C4AC3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0E3B0-C1D3-D82A-69EB-99DDF08D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24164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8D378-F457-1AC0-D2E3-E2B08011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7FE5-4A0F-297E-6F94-C3A8B891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A3C7D-4EFC-A975-DDFA-D0628E61B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EE7DA-5530-176F-1A6F-2E95736C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15651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6A09-EF73-B85C-3701-99108E2D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0C7F-0FFE-1CF4-F059-2372F671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0D1560-ECF9-8D5B-AFC0-E31E8BDD5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40711-7319-19D6-D569-C155867A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50120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59E5-5787-8CE1-D6EE-76EE5C4C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05797-48E6-A5E4-1681-103E7476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1B6EE-8E83-3585-0B18-8A849D034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58137-430A-D42A-B232-792CCD83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2910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BF11-D61E-F780-8C80-574C20FB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D495-4E59-7195-16BF-363A1279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Sequential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CD80DD-FF9A-D365-2355-4EFEDE369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5553" y="365125"/>
            <a:ext cx="7738247" cy="6127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6F2A7-EECF-52E9-5CE7-1A20AC76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19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006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F056-1196-6229-3115-788CF806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9C7D93-34BB-85D4-986E-005E55298B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FI" dirty="0"/>
                  <a:t>Two assets </a:t>
                </a: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FI" dirty="0"/>
                  <a:t> Two information environments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9C7D93-34BB-85D4-986E-005E55298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661E-FF18-C6DF-403C-79ECAE70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4802187"/>
          </a:xfrm>
        </p:spPr>
        <p:txBody>
          <a:bodyPr>
            <a:normAutofit/>
          </a:bodyPr>
          <a:lstStyle/>
          <a:p>
            <a:r>
              <a:rPr lang="en-FI" b="1" dirty="0"/>
              <a:t>Asset F</a:t>
            </a:r>
            <a:r>
              <a:rPr lang="en-FI" dirty="0"/>
              <a:t> — slightly ahead in 10 of 11 states, </a:t>
            </a:r>
            <a:r>
              <a:rPr lang="en-FI" b="1" i="1" dirty="0"/>
              <a:t>F</a:t>
            </a:r>
            <a:r>
              <a:rPr lang="en-FI" i="1" dirty="0"/>
              <a:t>requent</a:t>
            </a:r>
            <a:r>
              <a:rPr lang="en-FI" dirty="0"/>
              <a:t> winner</a:t>
            </a:r>
          </a:p>
          <a:p>
            <a:r>
              <a:rPr lang="en-FI" b="1" dirty="0"/>
              <a:t>Asset U</a:t>
            </a:r>
            <a:r>
              <a:rPr lang="en-FI" dirty="0"/>
              <a:t> — dramatically ahead in 1 of 11 states, </a:t>
            </a:r>
            <a:r>
              <a:rPr lang="en-FI" b="1" i="1" dirty="0"/>
              <a:t>U</a:t>
            </a:r>
            <a:r>
              <a:rPr lang="en-FI" i="1" dirty="0"/>
              <a:t>nlikely</a:t>
            </a:r>
            <a:r>
              <a:rPr lang="en-FI" dirty="0"/>
              <a:t> winner</a:t>
            </a:r>
          </a:p>
          <a:p>
            <a:endParaRPr lang="en-FI" sz="1200" b="1" dirty="0"/>
          </a:p>
          <a:p>
            <a:r>
              <a:rPr lang="en-FI" b="1" dirty="0"/>
              <a:t>Sequential</a:t>
            </a:r>
            <a:endParaRPr lang="en-FI" dirty="0"/>
          </a:p>
          <a:p>
            <a:pPr lvl="1"/>
            <a:r>
              <a:rPr lang="en-FI" dirty="0">
                <a:sym typeface="Wingdings" panose="05000000000000000000" pitchFamily="2" charset="2"/>
              </a:rPr>
              <a:t>imperfect memory recall </a:t>
            </a:r>
            <a:br>
              <a:rPr lang="en-FI" dirty="0">
                <a:sym typeface="Wingdings" panose="05000000000000000000" pitchFamily="2" charset="2"/>
              </a:rPr>
            </a:br>
            <a:r>
              <a:rPr lang="en-FI" dirty="0">
                <a:sym typeface="Wingdings" panose="05000000000000000000" pitchFamily="2" charset="2"/>
              </a:rPr>
              <a:t> people misremember rare outperformance of U  </a:t>
            </a:r>
            <a:r>
              <a:rPr lang="en-FI" b="1" dirty="0">
                <a:sym typeface="Wingdings" panose="05000000000000000000" pitchFamily="2" charset="2"/>
              </a:rPr>
              <a:t>85% choose F</a:t>
            </a:r>
            <a:endParaRPr lang="en-FI" dirty="0">
              <a:sym typeface="Wingdings" panose="05000000000000000000" pitchFamily="2" charset="2"/>
            </a:endParaRPr>
          </a:p>
          <a:p>
            <a:r>
              <a:rPr lang="en-FI" b="1" dirty="0">
                <a:sym typeface="Wingdings" panose="05000000000000000000" pitchFamily="2" charset="2"/>
              </a:rPr>
              <a:t>Simultaneous</a:t>
            </a:r>
          </a:p>
          <a:p>
            <a:pPr lvl="1"/>
            <a:r>
              <a:rPr lang="en-FI" dirty="0"/>
              <a:t>limited attention </a:t>
            </a:r>
            <a:br>
              <a:rPr lang="en-FI" dirty="0"/>
            </a:br>
            <a:r>
              <a:rPr lang="en-FI" dirty="0">
                <a:sym typeface="Wingdings" panose="05000000000000000000" pitchFamily="2" charset="2"/>
              </a:rPr>
              <a:t> people overweight salient outperformance of U  </a:t>
            </a:r>
            <a:r>
              <a:rPr lang="en-FI" b="1" dirty="0">
                <a:sym typeface="Wingdings" panose="05000000000000000000" pitchFamily="2" charset="2"/>
              </a:rPr>
              <a:t>42% choose F</a:t>
            </a:r>
            <a:endParaRPr lang="en-FI" dirty="0">
              <a:sym typeface="Wingdings" panose="05000000000000000000" pitchFamily="2" charset="2"/>
            </a:endParaRPr>
          </a:p>
          <a:p>
            <a:pPr lvl="1"/>
            <a:endParaRPr lang="en-FI" dirty="0"/>
          </a:p>
          <a:p>
            <a:pPr marL="0" indent="0">
              <a:buNone/>
            </a:pPr>
            <a:r>
              <a:rPr lang="en-FI" sz="2400" dirty="0"/>
              <a:t>(Bohren, Hascher, Imas, Ungeheuer, Weber, 2024)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A9631-38B9-A3A6-791D-4F0C3EF0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7888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E880-693B-F751-73F4-1DFF309AA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From choice gap to price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1A77D-0E92-3436-99E0-7E5D3BBC5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r>
              <a:rPr lang="en-FI" dirty="0"/>
              <a:t>Asset F and Asset U: </a:t>
            </a:r>
            <a:r>
              <a:rPr lang="en-FI" b="1" dirty="0"/>
              <a:t>identical marginals</a:t>
            </a:r>
          </a:p>
          <a:p>
            <a:pPr lvl="1"/>
            <a:r>
              <a:rPr lang="en-FI" dirty="0"/>
              <a:t>Asset F: {0.00, 0.20, 0.40, ..., 2.00} – 11 values, each equally likely </a:t>
            </a:r>
          </a:p>
          <a:p>
            <a:pPr lvl="1"/>
            <a:r>
              <a:rPr lang="en-FI" dirty="0"/>
              <a:t>Asset U: {0.00, 0.20, 0.40, ..., 2.00} – the same 11 values, equally likely</a:t>
            </a:r>
          </a:p>
          <a:p>
            <a:r>
              <a:rPr lang="en-FI" dirty="0"/>
              <a:t>In isolation, any rational investor should </a:t>
            </a:r>
            <a:r>
              <a:rPr lang="en-FI" b="1" dirty="0"/>
              <a:t>value them the same</a:t>
            </a:r>
          </a:p>
          <a:p>
            <a:endParaRPr lang="en-FI" dirty="0"/>
          </a:p>
          <a:p>
            <a:r>
              <a:rPr lang="en-FI" dirty="0"/>
              <a:t>If we find an F–U price gap = distorted interpretation of the </a:t>
            </a:r>
            <a:br>
              <a:rPr lang="en-FI" dirty="0"/>
            </a:br>
            <a:r>
              <a:rPr lang="en-FI" i="1" dirty="0"/>
              <a:t>joint</a:t>
            </a:r>
            <a:r>
              <a:rPr lang="en-FI" dirty="0"/>
              <a:t>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9133E-C0B6-3D1D-C710-67B6F3DD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98235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3626-F99B-D104-D1A3-89F3D554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Experimental design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B542-4D64-D1B0-A42D-C1A2A5DEC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9015"/>
          </a:xfrm>
        </p:spPr>
        <p:txBody>
          <a:bodyPr>
            <a:normAutofit/>
          </a:bodyPr>
          <a:lstStyle/>
          <a:p>
            <a:r>
              <a:rPr lang="en-FI" dirty="0"/>
              <a:t>Online Asset Market experiment</a:t>
            </a:r>
          </a:p>
          <a:p>
            <a:pPr lvl="1"/>
            <a:r>
              <a:rPr lang="en-FI" dirty="0"/>
              <a:t>Participants trade Asset F and Asset U simultaneously</a:t>
            </a:r>
          </a:p>
          <a:p>
            <a:pPr lvl="1"/>
            <a:r>
              <a:rPr lang="en-FI" dirty="0"/>
              <a:t>Continuous double auction (</a:t>
            </a:r>
            <a:r>
              <a:rPr lang="en-FI" dirty="0" err="1"/>
              <a:t>oTree</a:t>
            </a:r>
            <a:r>
              <a:rPr lang="en-FI" dirty="0"/>
              <a:t> &lt;&gt; Flex-E-Markets)</a:t>
            </a:r>
          </a:p>
          <a:p>
            <a:pPr lvl="1"/>
            <a:r>
              <a:rPr lang="en-FI" dirty="0"/>
              <a:t>4 rounds of trading, 4 minutes per round</a:t>
            </a:r>
          </a:p>
          <a:p>
            <a:pPr marL="0" indent="0">
              <a:buNone/>
            </a:pPr>
            <a:endParaRPr lang="en-FI" dirty="0"/>
          </a:p>
          <a:p>
            <a:r>
              <a:rPr lang="en-FI" dirty="0"/>
              <a:t>60 independent groups (each trading for 4 rounds)</a:t>
            </a:r>
          </a:p>
          <a:p>
            <a:r>
              <a:rPr lang="en-FI" dirty="0"/>
              <a:t>Target: 20 traders per group (at least 12 traders per group)</a:t>
            </a:r>
          </a:p>
          <a:p>
            <a:r>
              <a:rPr lang="en-FI" dirty="0"/>
              <a:t>up to about 1,200 online participants (Prolific)</a:t>
            </a:r>
          </a:p>
          <a:p>
            <a:endParaRPr lang="en-FI" dirty="0"/>
          </a:p>
          <a:p>
            <a:r>
              <a:rPr lang="en-FI" dirty="0"/>
              <a:t>Preregistered at OSF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A6C23-8AA9-88E5-6064-C1FC3078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18592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0E1A-E4D9-8B2A-B9DF-63FA0DA6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73942-83F2-D158-5140-1DDEEE7F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r>
              <a:rPr lang="en-FI" dirty="0"/>
              <a:t>3 × 2 between-within experimental treatment design</a:t>
            </a:r>
          </a:p>
          <a:p>
            <a:endParaRPr lang="en-FI" dirty="0"/>
          </a:p>
          <a:p>
            <a:r>
              <a:rPr lang="en-FI" b="1" dirty="0"/>
              <a:t>Information Environment</a:t>
            </a:r>
            <a:r>
              <a:rPr lang="en-FI" dirty="0"/>
              <a:t> varied </a:t>
            </a:r>
            <a:r>
              <a:rPr lang="en-FI" i="1" dirty="0"/>
              <a:t>between</a:t>
            </a:r>
            <a:r>
              <a:rPr lang="en-FI" dirty="0"/>
              <a:t> groups:</a:t>
            </a:r>
          </a:p>
          <a:p>
            <a:pPr lvl="1"/>
            <a:r>
              <a:rPr lang="en-FI" b="1" i="1" dirty="0"/>
              <a:t>Mix</a:t>
            </a:r>
            <a:r>
              <a:rPr lang="en-FI" i="1" dirty="0"/>
              <a:t>ed</a:t>
            </a:r>
            <a:r>
              <a:rPr lang="en-FI" dirty="0"/>
              <a:t> / </a:t>
            </a:r>
            <a:r>
              <a:rPr lang="en-FI" b="1" i="1" dirty="0"/>
              <a:t>Seq</a:t>
            </a:r>
            <a:r>
              <a:rPr lang="en-FI" i="1" dirty="0"/>
              <a:t>uential </a:t>
            </a:r>
            <a:r>
              <a:rPr lang="en-FI" dirty="0"/>
              <a:t>/ </a:t>
            </a:r>
            <a:r>
              <a:rPr lang="en-FI" b="1" i="1" dirty="0"/>
              <a:t>Sim</a:t>
            </a:r>
            <a:r>
              <a:rPr lang="en-FI" i="1" dirty="0"/>
              <a:t>ultaneous</a:t>
            </a:r>
          </a:p>
          <a:p>
            <a:pPr lvl="1"/>
            <a:endParaRPr lang="en-FI" dirty="0"/>
          </a:p>
          <a:p>
            <a:r>
              <a:rPr lang="en-FI" b="1" dirty="0"/>
              <a:t>Endowments</a:t>
            </a:r>
            <a:r>
              <a:rPr lang="en-FI" dirty="0"/>
              <a:t> for trading varied </a:t>
            </a:r>
            <a:r>
              <a:rPr lang="en-FI" i="1" dirty="0"/>
              <a:t>within</a:t>
            </a:r>
            <a:r>
              <a:rPr lang="en-FI" dirty="0"/>
              <a:t> groups: </a:t>
            </a:r>
          </a:p>
          <a:p>
            <a:pPr lvl="1"/>
            <a:r>
              <a:rPr lang="en-FI" dirty="0"/>
              <a:t>concentrated (Low Diversification (</a:t>
            </a:r>
            <a:r>
              <a:rPr lang="en-FI" b="1" i="1" dirty="0"/>
              <a:t>LD</a:t>
            </a:r>
            <a:r>
              <a:rPr lang="en-FI" dirty="0"/>
              <a:t>): 40/0 – 0/40)</a:t>
            </a:r>
          </a:p>
          <a:p>
            <a:pPr lvl="1"/>
            <a:r>
              <a:rPr lang="en-FI" dirty="0"/>
              <a:t>diversified (High Diversification (</a:t>
            </a:r>
            <a:r>
              <a:rPr lang="en-FI" b="1" i="1" dirty="0"/>
              <a:t>HD</a:t>
            </a:r>
            <a:r>
              <a:rPr lang="en-FI" dirty="0"/>
              <a:t>) 20/20)</a:t>
            </a:r>
          </a:p>
          <a:p>
            <a:pPr lvl="1"/>
            <a:endParaRPr lang="en-F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D7E30-02DE-8397-2B50-A25BAD67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1548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781A-7539-B8EB-74A6-3DA5E4C7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Hypotheses: Trading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773B1-A88B-B464-C446-888DE2249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b="1" dirty="0"/>
              <a:t>Highest </a:t>
            </a:r>
            <a:r>
              <a:rPr lang="en-FI" dirty="0"/>
              <a:t>Volume —</a:t>
            </a:r>
            <a:r>
              <a:rPr lang="en-FI" b="1" dirty="0"/>
              <a:t> </a:t>
            </a:r>
            <a:r>
              <a:rPr lang="en-FI" b="1" i="1" dirty="0" err="1"/>
              <a:t>LD.Mix</a:t>
            </a:r>
            <a:r>
              <a:rPr lang="en-FI" b="1" dirty="0"/>
              <a:t>:</a:t>
            </a:r>
            <a:r>
              <a:rPr lang="en-FI" dirty="0"/>
              <a:t> </a:t>
            </a:r>
          </a:p>
          <a:p>
            <a:pPr lvl="1"/>
            <a:r>
              <a:rPr lang="en-FI" dirty="0"/>
              <a:t>traders disagree </a:t>
            </a:r>
            <a:r>
              <a:rPr lang="en-FI" i="1" dirty="0"/>
              <a:t>and</a:t>
            </a:r>
            <a:r>
              <a:rPr lang="en-FI" dirty="0"/>
              <a:t> need to rebalance</a:t>
            </a:r>
          </a:p>
          <a:p>
            <a:r>
              <a:rPr lang="en-FI" b="1" dirty="0"/>
              <a:t>Middle </a:t>
            </a:r>
            <a:r>
              <a:rPr lang="en-FI" dirty="0"/>
              <a:t>Volume —</a:t>
            </a:r>
            <a:r>
              <a:rPr lang="en-FI" b="1" dirty="0"/>
              <a:t> </a:t>
            </a:r>
            <a:r>
              <a:rPr lang="en-FI" b="1" i="1" dirty="0" err="1"/>
              <a:t>LD.Seq</a:t>
            </a:r>
            <a:r>
              <a:rPr lang="en-FI" b="1" dirty="0"/>
              <a:t>, </a:t>
            </a:r>
            <a:r>
              <a:rPr lang="en-FI" b="1" i="1" dirty="0" err="1"/>
              <a:t>LD.Sim</a:t>
            </a:r>
            <a:r>
              <a:rPr lang="en-FI" b="1" dirty="0"/>
              <a:t>, </a:t>
            </a:r>
            <a:r>
              <a:rPr lang="en-FI" b="1" i="1" dirty="0" err="1"/>
              <a:t>HD.Mix</a:t>
            </a:r>
            <a:r>
              <a:rPr lang="en-FI" b="1" dirty="0"/>
              <a:t>:</a:t>
            </a:r>
            <a:r>
              <a:rPr lang="en-FI" dirty="0"/>
              <a:t> </a:t>
            </a:r>
          </a:p>
          <a:p>
            <a:pPr lvl="1"/>
            <a:r>
              <a:rPr lang="en-FI" dirty="0"/>
              <a:t>exactly one motive each: either traders disagree </a:t>
            </a:r>
            <a:r>
              <a:rPr lang="en-FI" i="1" dirty="0"/>
              <a:t>or</a:t>
            </a:r>
            <a:r>
              <a:rPr lang="en-FI" dirty="0"/>
              <a:t> need to rebalance</a:t>
            </a:r>
          </a:p>
          <a:p>
            <a:r>
              <a:rPr lang="en-FI" b="1" dirty="0"/>
              <a:t>Lowest </a:t>
            </a:r>
            <a:r>
              <a:rPr lang="en-FI" dirty="0"/>
              <a:t>Volume —</a:t>
            </a:r>
            <a:r>
              <a:rPr lang="en-FI" b="1" dirty="0"/>
              <a:t> </a:t>
            </a:r>
            <a:r>
              <a:rPr lang="en-FI" b="1" i="1" dirty="0" err="1"/>
              <a:t>HD.Seq</a:t>
            </a:r>
            <a:r>
              <a:rPr lang="en-FI" b="1" dirty="0"/>
              <a:t>, </a:t>
            </a:r>
            <a:r>
              <a:rPr lang="en-FI" b="1" i="1" dirty="0" err="1"/>
              <a:t>HD.Sim</a:t>
            </a:r>
            <a:r>
              <a:rPr lang="en-FI" b="1" dirty="0"/>
              <a:t>:</a:t>
            </a:r>
            <a:r>
              <a:rPr lang="en-FI" dirty="0"/>
              <a:t> </a:t>
            </a:r>
          </a:p>
          <a:p>
            <a:pPr lvl="1"/>
            <a:r>
              <a:rPr lang="en-FI" dirty="0"/>
              <a:t>diversified endowments </a:t>
            </a:r>
            <a:r>
              <a:rPr lang="en-FI" i="1" dirty="0"/>
              <a:t>and</a:t>
            </a:r>
            <a:r>
              <a:rPr lang="en-FI" dirty="0"/>
              <a:t> traders agree</a:t>
            </a:r>
          </a:p>
          <a:p>
            <a:endParaRPr lang="en-F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BB8CE-CEC2-BAA7-5BDF-41A6465B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2639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9797-6A93-7786-A491-12EE7BD1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Hypotheses: Prices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E49AB-C7ED-1C9E-1EC3-75D5610F3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72149" cy="4351338"/>
              </a:xfrm>
            </p:spPr>
            <p:txBody>
              <a:bodyPr>
                <a:normAutofit/>
              </a:bodyPr>
              <a:lstStyle/>
              <a:p>
                <a:r>
                  <a:rPr lang="en-FI" b="1" dirty="0"/>
                  <a:t>Asset F:</a:t>
                </a:r>
                <a:r>
                  <a:rPr lang="en-FI" dirty="0"/>
                  <a:t> lowest </a:t>
                </a:r>
                <a:r>
                  <a:rPr lang="en-FI" b="1" i="1" dirty="0"/>
                  <a:t>Sim</a:t>
                </a:r>
                <a:r>
                  <a:rPr lang="en-FI" dirty="0"/>
                  <a:t> &lt; higher </a:t>
                </a:r>
                <a:r>
                  <a:rPr lang="en-FI" b="1" i="1" dirty="0"/>
                  <a:t>Mix </a:t>
                </a:r>
                <a:r>
                  <a:rPr lang="en-FI" dirty="0"/>
                  <a:t>&lt; highest </a:t>
                </a:r>
                <a:r>
                  <a:rPr lang="en-FI" b="1" i="1" dirty="0"/>
                  <a:t>Seq</a:t>
                </a:r>
                <a:r>
                  <a:rPr lang="en-FI" dirty="0"/>
                  <a:t> </a:t>
                </a:r>
                <a:endParaRPr lang="en-FI" b="1" dirty="0"/>
              </a:p>
              <a:p>
                <a:r>
                  <a:rPr lang="en-FI" b="1" dirty="0"/>
                  <a:t>Asset U:</a:t>
                </a:r>
                <a:r>
                  <a:rPr lang="en-FI" dirty="0"/>
                  <a:t> highest </a:t>
                </a:r>
                <a:r>
                  <a:rPr lang="en-FI" b="1" i="1" dirty="0"/>
                  <a:t>Sim</a:t>
                </a:r>
                <a:r>
                  <a:rPr lang="en-FI" dirty="0"/>
                  <a:t> &gt; lower </a:t>
                </a:r>
                <a:r>
                  <a:rPr lang="en-FI" b="1" i="1" dirty="0"/>
                  <a:t>Mix </a:t>
                </a:r>
                <a:r>
                  <a:rPr lang="en-FI" dirty="0"/>
                  <a:t>&gt; lowest </a:t>
                </a:r>
                <a:r>
                  <a:rPr lang="en-FI" b="1" i="1" dirty="0"/>
                  <a:t>Seq</a:t>
                </a:r>
              </a:p>
              <a:p>
                <a:endParaRPr lang="en-FI" dirty="0"/>
              </a:p>
              <a:p>
                <a:r>
                  <a:rPr lang="en-FI" dirty="0"/>
                  <a:t>Homogeneous market (Sim or Seq) </a:t>
                </a:r>
                <a:br>
                  <a:rPr lang="en-FI" dirty="0"/>
                </a:br>
                <a14:m>
                  <m:oMath xmlns:m="http://schemas.openxmlformats.org/officeDocument/2006/math">
                    <m:r>
                      <a:rPr lang="en-FI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bias fully integrated, no one trades against it</a:t>
                </a:r>
              </a:p>
              <a:p>
                <a:r>
                  <a:rPr lang="en-FI" dirty="0"/>
                  <a:t>Mixed market (Mix)</a:t>
                </a:r>
                <a:br>
                  <a:rPr lang="en-FI" dirty="0"/>
                </a:br>
                <a14:m>
                  <m:oMath xmlns:m="http://schemas.openxmlformats.org/officeDocument/2006/math">
                    <m:r>
                      <a:rPr lang="en-FI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opposing errors might partially cancel out, </a:t>
                </a:r>
                <a:br>
                  <a:rPr lang="en-FI" b="1" dirty="0"/>
                </a:br>
                <a:r>
                  <a:rPr lang="en-FI" dirty="0"/>
                  <a:t>aggregation toward fundamentals </a:t>
                </a:r>
                <a:r>
                  <a:rPr lang="en-FI" i="1" dirty="0"/>
                  <a:t>without a single rational trader</a:t>
                </a:r>
              </a:p>
              <a:p>
                <a:pPr marL="0" indent="0">
                  <a:buNone/>
                </a:pPr>
                <a:endParaRPr lang="en-FI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E49AB-C7ED-1C9E-1EC3-75D5610F3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72149" cy="4351338"/>
              </a:xfrm>
              <a:blipFill>
                <a:blip r:embed="rId3"/>
                <a:stretch>
                  <a:fillRect l="-936" t="-2381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D6F2C-33DC-FF26-3FEB-30E55A1B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2246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DA6E-52AC-9EB1-8337-737FDB98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Experimental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F2E97-9B11-FCD2-1960-6D5D05EF4B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3680"/>
                <a:ext cx="10693400" cy="4673283"/>
              </a:xfrm>
            </p:spPr>
            <p:txBody>
              <a:bodyPr/>
              <a:lstStyle/>
              <a:p>
                <a:r>
                  <a:rPr lang="en-FI" dirty="0"/>
                  <a:t>Online Asset Market experiment</a:t>
                </a:r>
              </a:p>
              <a:p>
                <a:pPr lvl="1"/>
                <a:r>
                  <a:rPr lang="en-FI" dirty="0"/>
                  <a:t>Continuous double auction with two assets (</a:t>
                </a:r>
                <a:r>
                  <a:rPr lang="en-FI" dirty="0" err="1"/>
                  <a:t>oTree</a:t>
                </a:r>
                <a:r>
                  <a:rPr lang="en-FI" dirty="0"/>
                  <a:t> &lt;&gt; Flex-E-Markets)</a:t>
                </a:r>
              </a:p>
              <a:p>
                <a:r>
                  <a:rPr lang="en-FI" dirty="0"/>
                  <a:t>Target: 20 traders per group (at least 12 traders per group)</a:t>
                </a:r>
              </a:p>
              <a:p>
                <a:r>
                  <a:rPr lang="en-FI" dirty="0"/>
                  <a:t>up to about 1,200 online participants (Prolific)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en-FI" dirty="0">
                    <a:sym typeface="Wingdings" panose="05000000000000000000" pitchFamily="2" charset="2"/>
                  </a:rPr>
                  <a:t> a challenge!</a:t>
                </a:r>
              </a:p>
              <a:p>
                <a:pPr marL="0" indent="0">
                  <a:buNone/>
                </a:pPr>
                <a:endParaRPr lang="en-FI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FI" dirty="0">
                    <a:sym typeface="Wingdings" panose="05000000000000000000" pitchFamily="2" charset="2"/>
                  </a:rPr>
                  <a:t>How to only get “active” participants into the markets?</a:t>
                </a:r>
              </a:p>
              <a:p>
                <a:pPr marL="0" indent="0">
                  <a:buNone/>
                </a:pPr>
                <a:r>
                  <a:rPr lang="en-FI" dirty="0">
                    <a:sym typeface="Wingdings" panose="05000000000000000000" pitchFamily="2" charset="2"/>
                  </a:rPr>
                  <a:t>How to make sure they don’t have to wait too long for others?</a:t>
                </a:r>
                <a:endParaRPr lang="en-FI" dirty="0"/>
              </a:p>
              <a:p>
                <a:pPr marL="0" indent="0">
                  <a:buNone/>
                </a:pPr>
                <a:r>
                  <a:rPr lang="en-FI" dirty="0"/>
                  <a:t>... 50-60 min online experiment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F2E97-9B11-FCD2-1960-6D5D05EF4B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3680"/>
                <a:ext cx="10693400" cy="4673283"/>
              </a:xfrm>
              <a:blipFill>
                <a:blip r:embed="rId2"/>
                <a:stretch>
                  <a:fillRect l="-1197" t="-2350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6FF71-E822-F0B1-4502-D5884B31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57952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EAB5-F8DB-142A-246B-77B44E24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Experimental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92D92-CFFE-5E6E-E89A-DBAD597B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27</a:t>
            </a:fld>
            <a:endParaRPr lang="en-FI"/>
          </a:p>
        </p:txBody>
      </p:sp>
      <p:pic>
        <p:nvPicPr>
          <p:cNvPr id="6" name="Graphic 5" descr="Man with solid fill">
            <a:extLst>
              <a:ext uri="{FF2B5EF4-FFF2-40B4-BE49-F238E27FC236}">
                <a16:creationId xmlns:a16="http://schemas.microsoft.com/office/drawing/2014/main" id="{2A103A14-FE71-1745-A67E-C284DFD62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6974" y="1405594"/>
            <a:ext cx="570187" cy="570187"/>
          </a:xfrm>
          <a:prstGeom prst="rect">
            <a:avLst/>
          </a:prstGeom>
        </p:spPr>
      </p:pic>
      <p:pic>
        <p:nvPicPr>
          <p:cNvPr id="9" name="Graphic 8" descr="Woman with solid fill">
            <a:extLst>
              <a:ext uri="{FF2B5EF4-FFF2-40B4-BE49-F238E27FC236}">
                <a16:creationId xmlns:a16="http://schemas.microsoft.com/office/drawing/2014/main" id="{D2479C54-CC2B-A875-02BB-14C1D421F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737" y="1975781"/>
            <a:ext cx="570187" cy="570187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5983BFB4-7064-BE67-9C51-DD42F9F43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8319" y="3229651"/>
            <a:ext cx="570187" cy="570187"/>
          </a:xfrm>
          <a:prstGeom prst="rect">
            <a:avLst/>
          </a:prstGeom>
        </p:spPr>
      </p:pic>
      <p:pic>
        <p:nvPicPr>
          <p:cNvPr id="11" name="Graphic 10" descr="Woman with solid fill">
            <a:extLst>
              <a:ext uri="{FF2B5EF4-FFF2-40B4-BE49-F238E27FC236}">
                <a16:creationId xmlns:a16="http://schemas.microsoft.com/office/drawing/2014/main" id="{C8E778EC-ACC7-DA4C-C51E-3F34E856C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8679" y="3229652"/>
            <a:ext cx="570187" cy="570187"/>
          </a:xfrm>
          <a:prstGeom prst="rect">
            <a:avLst/>
          </a:prstGeom>
        </p:spPr>
      </p:pic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A5320A43-3F9E-9756-0026-8AD65DA043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3496" y="3229651"/>
            <a:ext cx="570187" cy="570187"/>
          </a:xfrm>
          <a:prstGeom prst="rect">
            <a:avLst/>
          </a:prstGeom>
        </p:spPr>
      </p:pic>
      <p:pic>
        <p:nvPicPr>
          <p:cNvPr id="13" name="Graphic 12" descr="Woman with solid fill">
            <a:extLst>
              <a:ext uri="{FF2B5EF4-FFF2-40B4-BE49-F238E27FC236}">
                <a16:creationId xmlns:a16="http://schemas.microsoft.com/office/drawing/2014/main" id="{8DB4D60D-40DB-D9C2-B290-A6D833D7D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3856" y="3229652"/>
            <a:ext cx="570187" cy="570187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95122809-9726-C221-9E78-45541CD88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8737" y="3229651"/>
            <a:ext cx="570187" cy="570187"/>
          </a:xfrm>
          <a:prstGeom prst="rect">
            <a:avLst/>
          </a:prstGeom>
        </p:spPr>
      </p:pic>
      <p:pic>
        <p:nvPicPr>
          <p:cNvPr id="15" name="Graphic 14" descr="Woman with solid fill">
            <a:extLst>
              <a:ext uri="{FF2B5EF4-FFF2-40B4-BE49-F238E27FC236}">
                <a16:creationId xmlns:a16="http://schemas.microsoft.com/office/drawing/2014/main" id="{58396E35-06F9-CDA0-0906-ABB0291D73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9097" y="3229652"/>
            <a:ext cx="570187" cy="570187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607E199F-3FBE-FD4D-E5BF-343DE55C8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615" y="3229650"/>
            <a:ext cx="570187" cy="570187"/>
          </a:xfrm>
          <a:prstGeom prst="rect">
            <a:avLst/>
          </a:prstGeom>
        </p:spPr>
      </p:pic>
      <p:pic>
        <p:nvPicPr>
          <p:cNvPr id="17" name="Graphic 16" descr="Woman with solid fill">
            <a:extLst>
              <a:ext uri="{FF2B5EF4-FFF2-40B4-BE49-F238E27FC236}">
                <a16:creationId xmlns:a16="http://schemas.microsoft.com/office/drawing/2014/main" id="{A2354831-E9B3-C35C-90D0-00C586AF8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6975" y="3229651"/>
            <a:ext cx="570187" cy="57018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EBE51A9-9B55-39E5-EC4B-B8AEF1924290}"/>
              </a:ext>
            </a:extLst>
          </p:cNvPr>
          <p:cNvGrpSpPr/>
          <p:nvPr/>
        </p:nvGrpSpPr>
        <p:grpSpPr>
          <a:xfrm>
            <a:off x="9520094" y="3429000"/>
            <a:ext cx="914400" cy="914400"/>
            <a:chOff x="9668436" y="4165606"/>
            <a:chExt cx="914400" cy="9144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DDE78C9-9B12-09CF-A32A-AE8056D92DB1}"/>
                </a:ext>
              </a:extLst>
            </p:cNvPr>
            <p:cNvSpPr/>
            <p:nvPr/>
          </p:nvSpPr>
          <p:spPr>
            <a:xfrm>
              <a:off x="9668436" y="4165606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pic>
          <p:nvPicPr>
            <p:cNvPr id="19" name="Graphic 18" descr="Group with solid fill">
              <a:extLst>
                <a:ext uri="{FF2B5EF4-FFF2-40B4-BE49-F238E27FC236}">
                  <a16:creationId xmlns:a16="http://schemas.microsoft.com/office/drawing/2014/main" id="{668F779B-8EF3-86C0-F896-9982BCA2E8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8436" y="4165606"/>
              <a:ext cx="914400" cy="9144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1AC2662-8867-ACBD-ACFE-3655C9846E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56" y="3848735"/>
            <a:ext cx="9220200" cy="2872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B30B19-A044-C460-0FA6-C5D3AA8D7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73795"/>
                <a:ext cx="11640672" cy="5161616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FI" dirty="0"/>
                  <a:t>General Instructions + Attention Checks</a:t>
                </a:r>
              </a:p>
              <a:p>
                <a:pPr marL="514350" indent="-514350">
                  <a:buAutoNum type="arabicPeriod"/>
                </a:pPr>
                <a:r>
                  <a:rPr lang="en-FI" dirty="0"/>
                  <a:t>Market Instructions + Practice Round</a:t>
                </a:r>
              </a:p>
              <a:p>
                <a:pPr marL="514350" indent="-514350">
                  <a:buAutoNum type="arabicPeriod"/>
                </a:pPr>
                <a:endParaRPr lang="en-FI" sz="1200" dirty="0"/>
              </a:p>
              <a:p>
                <a:pPr marL="514350" indent="-514350">
                  <a:buAutoNum type="arabicPeriod"/>
                </a:pPr>
                <a:r>
                  <a:rPr lang="en-FI" dirty="0"/>
                  <a:t>Survey  with 7 pages </a:t>
                </a:r>
                <a14:m>
                  <m:oMath xmlns:m="http://schemas.openxmlformats.org/officeDocument/2006/math">
                    <m:r>
                      <a:rPr lang="en-FI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10:00 minute timer for each participant</a:t>
                </a:r>
              </a:p>
              <a:p>
                <a:pPr marL="457200" lvl="1" indent="0">
                  <a:buNone/>
                </a:pPr>
                <a:endParaRPr lang="en-FI" dirty="0"/>
              </a:p>
              <a:p>
                <a:pPr marL="355600" lvl="1"/>
                <a:endParaRPr lang="en-FI" dirty="0"/>
              </a:p>
              <a:p>
                <a:pPr marL="355600" lvl="1"/>
                <a:r>
                  <a:rPr lang="en-FI" dirty="0"/>
                  <a:t>If 20 participants arrived at the Survey </a:t>
                </a:r>
                <a14:m>
                  <m:oMath xmlns:m="http://schemas.openxmlformats.org/officeDocument/2006/math">
                    <m:r>
                      <a:rPr lang="en-FI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group of 20 is formed</a:t>
                </a:r>
              </a:p>
              <a:p>
                <a:pPr marL="355600" lvl="1"/>
                <a:r>
                  <a:rPr lang="en-FI" dirty="0"/>
                  <a:t>If timer runs out and 11-18 others are at the Survey </a:t>
                </a:r>
                <a14:m>
                  <m:oMath xmlns:m="http://schemas.openxmlformats.org/officeDocument/2006/math">
                    <m:r>
                      <a:rPr lang="en-FI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group of 12-19</a:t>
                </a:r>
              </a:p>
              <a:p>
                <a:pPr marL="355600" lvl="1"/>
                <a:r>
                  <a:rPr lang="en-FI" dirty="0"/>
                  <a:t>If timer runs out and &lt; 11 others are at the Survey </a:t>
                </a:r>
                <a14:m>
                  <m:oMath xmlns:m="http://schemas.openxmlformats.org/officeDocument/2006/math">
                    <m:r>
                      <a:rPr lang="en-FI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FI" dirty="0"/>
                  <a:t> no group, payment</a:t>
                </a:r>
              </a:p>
              <a:p>
                <a:pPr marL="355600" lvl="1"/>
                <a:endParaRPr lang="en-FI" sz="1050" dirty="0"/>
              </a:p>
              <a:p>
                <a:pPr marL="184150" indent="-514350">
                  <a:buFont typeface="+mj-lt"/>
                  <a:buAutoNum type="arabicPeriod"/>
                </a:pPr>
                <a:r>
                  <a:rPr lang="en-FI" dirty="0"/>
                  <a:t>Market instructions + Market trading</a:t>
                </a:r>
              </a:p>
              <a:p>
                <a:pPr marL="184150" indent="-514350">
                  <a:buFont typeface="+mj-lt"/>
                  <a:buAutoNum type="arabicPeriod"/>
                </a:pPr>
                <a:r>
                  <a:rPr lang="en-FI" dirty="0"/>
                  <a:t>After 4 rounds of trading, Survey continues where they left off</a:t>
                </a:r>
              </a:p>
              <a:p>
                <a:pPr marL="355600" lvl="1"/>
                <a:endParaRPr lang="en-FI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B30B19-A044-C460-0FA6-C5D3AA8D7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73795"/>
                <a:ext cx="11640672" cy="5161616"/>
              </a:xfrm>
              <a:blipFill>
                <a:blip r:embed="rId7"/>
                <a:stretch>
                  <a:fillRect l="-1047" t="-2128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51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F3FB-5AED-F084-2518-4A250481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D0FE-ADDC-A210-2F8A-9517988C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Experimental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7BF74-CC94-3D3B-1999-A2FA839D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/>
          <a:lstStyle/>
          <a:p>
            <a:r>
              <a:rPr lang="en-FI" dirty="0" err="1"/>
              <a:t>oTree</a:t>
            </a:r>
            <a:r>
              <a:rPr lang="en-FI" dirty="0"/>
              <a:t> &lt;&gt; Flex-E-Markets</a:t>
            </a:r>
          </a:p>
          <a:p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142CE-4340-5E12-050E-407C07066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93" y="2113695"/>
            <a:ext cx="11097814" cy="61072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3ECF7-8F87-BF5F-FAFD-EFF1B336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74995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D1FC-2666-3067-B9B0-C908C76E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Some first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711A-3042-1074-B480-49B77AA4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Implementation with Prolific, </a:t>
            </a:r>
            <a:r>
              <a:rPr lang="en-FI" dirty="0" err="1"/>
              <a:t>oTree</a:t>
            </a:r>
            <a:r>
              <a:rPr lang="en-FI" dirty="0"/>
              <a:t>, Flex-E-Markets and </a:t>
            </a:r>
            <a:br>
              <a:rPr lang="en-FI" dirty="0"/>
            </a:br>
            <a:r>
              <a:rPr lang="en-FI" u="sng" dirty="0"/>
              <a:t>20 participants per group</a:t>
            </a:r>
            <a:r>
              <a:rPr lang="en-FI" dirty="0"/>
              <a:t> in a </a:t>
            </a:r>
            <a:r>
              <a:rPr lang="en-FI" u="sng" dirty="0"/>
              <a:t>50min experiment</a:t>
            </a:r>
            <a:r>
              <a:rPr lang="en-FI" dirty="0"/>
              <a:t> is a </a:t>
            </a:r>
            <a:br>
              <a:rPr lang="en-FI" dirty="0"/>
            </a:br>
            <a:r>
              <a:rPr lang="en-FI" dirty="0"/>
              <a:t>massive challenge</a:t>
            </a:r>
          </a:p>
          <a:p>
            <a:endParaRPr lang="en-FI" dirty="0"/>
          </a:p>
          <a:p>
            <a:r>
              <a:rPr lang="en-FI" dirty="0"/>
              <a:t>So far only some first data from 2 groups with 4 rounds each </a:t>
            </a:r>
            <a:br>
              <a:rPr lang="en-FI" dirty="0"/>
            </a:br>
            <a:br>
              <a:rPr lang="en-FI" dirty="0"/>
            </a:br>
            <a:r>
              <a:rPr lang="en-FI" dirty="0"/>
              <a:t>(We will scale this up to 60 groups very soon!)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C7521-EAB6-1A82-6D10-4520D7A8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29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6384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8CFE-8A58-E5CA-9D16-2E30C55B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Some first data – Markets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B80DD-62B0-7CC4-E3FE-39601168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30</a:t>
            </a:fld>
            <a:endParaRPr lang="en-FI"/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299D3779-0EF2-8FEC-466D-BDEECB405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400" y="1999249"/>
            <a:ext cx="2880000" cy="180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34017B-05FF-AA5F-1F2A-0D4A7E98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800" y="1999249"/>
            <a:ext cx="2880000" cy="17999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6CF9786-D65B-9218-99A7-AE417B0FF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3200" y="1999249"/>
            <a:ext cx="2880000" cy="179999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8A94D7-F510-E242-CF67-F72CE7D6F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7600" y="1999249"/>
            <a:ext cx="2880000" cy="1799999"/>
          </a:xfrm>
          <a:prstGeom prst="rect">
            <a:avLst/>
          </a:prstGeom>
        </p:spPr>
      </p:pic>
      <p:pic>
        <p:nvPicPr>
          <p:cNvPr id="47" name="Content Placeholder 28">
            <a:extLst>
              <a:ext uri="{FF2B5EF4-FFF2-40B4-BE49-F238E27FC236}">
                <a16:creationId xmlns:a16="http://schemas.microsoft.com/office/drawing/2014/main" id="{85464913-E5ED-7BC0-BAD6-20D110CC7A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400" y="4508012"/>
            <a:ext cx="2880000" cy="179999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50BC76B-9C86-EF53-3779-F740B56410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800" y="4508012"/>
            <a:ext cx="2880000" cy="179999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AC84DD7-C930-C98E-BFF1-6E85F89AAE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3200" y="4508012"/>
            <a:ext cx="2880000" cy="179999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C1F7285-FDD6-F1CC-DC0C-774BB4E2CE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7600" y="4508012"/>
            <a:ext cx="2880000" cy="179999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1887B7F-8F1B-6B60-F8BF-EDE2B1AA3E7F}"/>
              </a:ext>
            </a:extLst>
          </p:cNvPr>
          <p:cNvSpPr txBox="1"/>
          <p:nvPr/>
        </p:nvSpPr>
        <p:spPr>
          <a:xfrm>
            <a:off x="273205" y="1537584"/>
            <a:ext cx="2151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G1/R1:</a:t>
            </a:r>
            <a:r>
              <a:rPr lang="en-FI" sz="2400" b="1" dirty="0"/>
              <a:t> </a:t>
            </a:r>
            <a:r>
              <a:rPr lang="en-FI" sz="2400" b="1" dirty="0" err="1"/>
              <a:t>LD.Mix</a:t>
            </a:r>
            <a:endParaRPr lang="en-FI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7AF6B-804D-064E-1521-3E552A70A466}"/>
              </a:ext>
            </a:extLst>
          </p:cNvPr>
          <p:cNvSpPr txBox="1"/>
          <p:nvPr/>
        </p:nvSpPr>
        <p:spPr>
          <a:xfrm>
            <a:off x="3322208" y="1537583"/>
            <a:ext cx="21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G1/R2: </a:t>
            </a:r>
            <a:r>
              <a:rPr lang="en-FI" sz="2400" b="1" dirty="0" err="1"/>
              <a:t>HD.Mix</a:t>
            </a:r>
            <a:endParaRPr lang="en-FI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33166C-7397-0A52-B14B-26D17DFE5615}"/>
              </a:ext>
            </a:extLst>
          </p:cNvPr>
          <p:cNvSpPr txBox="1"/>
          <p:nvPr/>
        </p:nvSpPr>
        <p:spPr>
          <a:xfrm>
            <a:off x="6283567" y="1537582"/>
            <a:ext cx="2151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G1/R3:</a:t>
            </a:r>
            <a:r>
              <a:rPr lang="en-FI" sz="2400" b="1" dirty="0"/>
              <a:t> </a:t>
            </a:r>
            <a:r>
              <a:rPr lang="en-FI" sz="2400" b="1" dirty="0" err="1"/>
              <a:t>LD.Mix</a:t>
            </a:r>
            <a:endParaRPr lang="en-FI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88C5E8-7141-AD43-ADC8-150A8CD651BF}"/>
              </a:ext>
            </a:extLst>
          </p:cNvPr>
          <p:cNvSpPr txBox="1"/>
          <p:nvPr/>
        </p:nvSpPr>
        <p:spPr>
          <a:xfrm>
            <a:off x="9326564" y="1537581"/>
            <a:ext cx="2218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G1/R4:</a:t>
            </a:r>
            <a:r>
              <a:rPr lang="en-FI" sz="2400" b="1" dirty="0"/>
              <a:t> </a:t>
            </a:r>
            <a:r>
              <a:rPr lang="en-FI" sz="2400" b="1" dirty="0" err="1"/>
              <a:t>HD.Mix</a:t>
            </a:r>
            <a:endParaRPr lang="en-FI" sz="2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078EBC-FABF-06D1-E7F8-1B67DBB141E9}"/>
              </a:ext>
            </a:extLst>
          </p:cNvPr>
          <p:cNvSpPr txBox="1"/>
          <p:nvPr/>
        </p:nvSpPr>
        <p:spPr>
          <a:xfrm>
            <a:off x="273205" y="4046347"/>
            <a:ext cx="21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G2/R1: </a:t>
            </a:r>
            <a:r>
              <a:rPr lang="en-FI" sz="2400" b="1" dirty="0" err="1"/>
              <a:t>LD.Sim</a:t>
            </a:r>
            <a:endParaRPr lang="en-FI" sz="2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A6FE48-9C06-F54B-CB90-77CF1AACCCA6}"/>
              </a:ext>
            </a:extLst>
          </p:cNvPr>
          <p:cNvSpPr txBox="1"/>
          <p:nvPr/>
        </p:nvSpPr>
        <p:spPr>
          <a:xfrm>
            <a:off x="3322208" y="4046346"/>
            <a:ext cx="22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G2/R2: </a:t>
            </a:r>
            <a:r>
              <a:rPr lang="en-FI" sz="2400" b="1" dirty="0" err="1"/>
              <a:t>HD.Sim</a:t>
            </a:r>
            <a:endParaRPr lang="en-FI" sz="2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C11814-50AC-03AB-A988-380DCE614EFA}"/>
              </a:ext>
            </a:extLst>
          </p:cNvPr>
          <p:cNvSpPr txBox="1"/>
          <p:nvPr/>
        </p:nvSpPr>
        <p:spPr>
          <a:xfrm>
            <a:off x="6283567" y="4046345"/>
            <a:ext cx="2232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G2/R3: </a:t>
            </a:r>
            <a:r>
              <a:rPr lang="en-FI" sz="2400" b="1" dirty="0" err="1"/>
              <a:t>LD.Sim</a:t>
            </a:r>
            <a:endParaRPr lang="en-FI" sz="2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6DD97D-62A1-8861-5A10-CC5C3F336CE9}"/>
              </a:ext>
            </a:extLst>
          </p:cNvPr>
          <p:cNvSpPr txBox="1"/>
          <p:nvPr/>
        </p:nvSpPr>
        <p:spPr>
          <a:xfrm>
            <a:off x="9326564" y="4046344"/>
            <a:ext cx="22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G2/R4:</a:t>
            </a:r>
            <a:r>
              <a:rPr lang="en-FI" sz="2400" b="1" dirty="0"/>
              <a:t> </a:t>
            </a:r>
            <a:r>
              <a:rPr lang="en-FI" sz="2400" b="1" dirty="0" err="1"/>
              <a:t>HD.Sim</a:t>
            </a:r>
            <a:endParaRPr lang="en-FI" sz="2400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2B5963A-2547-2A02-B64F-1862DEC8D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71" t="5890" r="34442" b="86673"/>
          <a:stretch>
            <a:fillRect/>
          </a:stretch>
        </p:blipFill>
        <p:spPr>
          <a:xfrm>
            <a:off x="7155208" y="365122"/>
            <a:ext cx="5036792" cy="99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83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5E4E-6064-B9E8-E7CB-9DC2F40A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3855-FC22-EF49-609F-2F33ECC6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Some first data – Prices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AB5E2E-9677-3688-CBBB-1EC1CF0F0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3181" y="1290508"/>
            <a:ext cx="8745638" cy="54660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DAFC6-12A9-E6BD-2692-9E48F904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28938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AD56-69D2-CA78-70FB-EB96C5C3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5116-13F2-4BB8-5EFE-45B92F31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Some first data – Beliefs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F1C881-54AE-EFAD-0108-33F79D90C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3181" y="1290508"/>
            <a:ext cx="8745638" cy="54660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44820-30FB-B3C5-8DD3-31616716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84647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050C-69F8-35CA-8DC6-B1C58D59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2934-EBEB-0ECC-B628-B1D080B3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Some first data – Trading volume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C0157E-6EEF-B19A-8BB3-DBE6F6D29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1384" y="1475581"/>
            <a:ext cx="7809231" cy="48807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D2E81-1211-C478-0267-1341A2D1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70853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1FCC-B839-0E41-B675-D47B7E8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2D65D-EA9A-41D5-A06E-7A3634B6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42334"/>
          </a:xfrm>
        </p:spPr>
        <p:txBody>
          <a:bodyPr>
            <a:normAutofit lnSpcReduction="10000"/>
          </a:bodyPr>
          <a:lstStyle/>
          <a:p>
            <a:r>
              <a:rPr lang="en-FI" dirty="0"/>
              <a:t>First </a:t>
            </a:r>
            <a:r>
              <a:rPr lang="en-FI" i="1" dirty="0"/>
              <a:t>market</a:t>
            </a:r>
            <a:r>
              <a:rPr lang="en-FI" dirty="0"/>
              <a:t> test of belief heterogeneity induced by information environments</a:t>
            </a:r>
            <a:endParaRPr lang="en-FI" i="1" dirty="0"/>
          </a:p>
          <a:p>
            <a:r>
              <a:rPr lang="en-FI" dirty="0"/>
              <a:t>Different information environments pull biases in opposite directions</a:t>
            </a:r>
          </a:p>
          <a:p>
            <a:r>
              <a:rPr lang="en-FI" dirty="0"/>
              <a:t>In markets, these biased beliefs are reflected in the same order book — discussed since Miller (1977) / Harrison–Kreps (1978)</a:t>
            </a:r>
          </a:p>
          <a:p>
            <a:r>
              <a:rPr lang="en-FI" dirty="0"/>
              <a:t>Full data soon</a:t>
            </a:r>
          </a:p>
          <a:p>
            <a:endParaRPr lang="en-FI" dirty="0"/>
          </a:p>
          <a:p>
            <a:pPr marL="0" indent="0" algn="ctr">
              <a:buNone/>
            </a:pPr>
            <a:r>
              <a:rPr lang="en-FI" b="1" dirty="0"/>
              <a:t>Thank you</a:t>
            </a:r>
            <a:br>
              <a:rPr lang="en-FI" b="1" dirty="0"/>
            </a:br>
            <a:br>
              <a:rPr lang="en-FI" b="1" dirty="0"/>
            </a:br>
            <a:r>
              <a:rPr lang="en-FI" dirty="0"/>
              <a:t>chr-huber.com</a:t>
            </a:r>
            <a:endParaRPr lang="en-FI" b="1" dirty="0"/>
          </a:p>
          <a:p>
            <a:pPr marL="0" indent="0" algn="ctr">
              <a:buNone/>
            </a:pPr>
            <a:r>
              <a:rPr lang="en-FI" dirty="0"/>
              <a:t>christoph.huber@aalto.fi</a:t>
            </a:r>
          </a:p>
          <a:p>
            <a:endParaRPr lang="en-FI" dirty="0"/>
          </a:p>
          <a:p>
            <a:endParaRPr lang="en-F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0BEEB-F125-3D26-19E5-BCF01AB6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8687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5DCA-FB47-4BE1-1CF7-E621899E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FD91-F874-1FA1-5F70-CDF2E8395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b="1" dirty="0"/>
              <a:t>Prices</a:t>
            </a:r>
            <a:r>
              <a:rPr lang="en-FI" dirty="0"/>
              <a:t> — final-minute transactions (≥20 trades; else last 20) → informationally mature</a:t>
            </a:r>
          </a:p>
          <a:p>
            <a:r>
              <a:rPr lang="en-FI" b="1" dirty="0"/>
              <a:t>Volume</a:t>
            </a:r>
            <a:r>
              <a:rPr lang="en-FI" dirty="0"/>
              <a:t> — total shares per round</a:t>
            </a:r>
          </a:p>
          <a:p>
            <a:r>
              <a:rPr lang="en-FI" b="1" dirty="0"/>
              <a:t>Secondary</a:t>
            </a:r>
            <a:r>
              <a:rPr lang="en-FI" dirty="0"/>
              <a:t> — limit vs. market orders, final holdings, volatility, payoff scale (max 2 vs. 5)</a:t>
            </a:r>
          </a:p>
          <a:p>
            <a:r>
              <a:rPr lang="en-FI" b="1" dirty="0"/>
              <a:t>Moderators</a:t>
            </a:r>
            <a:r>
              <a:rPr lang="en-FI" dirty="0"/>
              <a:t> — financial literacy, experience, overconfidence, intuition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4D609-EFB4-3604-2EF0-64C2F079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79021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1B23-7997-3D91-55C6-252F4A96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Information environments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9D0CB-35E3-59D8-4B86-0877A322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FI" dirty="0"/>
              <a:t>between-subjects </a:t>
            </a:r>
          </a:p>
          <a:p>
            <a:endParaRPr lang="en-FI" dirty="0"/>
          </a:p>
          <a:p>
            <a:r>
              <a:rPr lang="en-FI" b="1" dirty="0"/>
              <a:t>IE1 — Mixed:</a:t>
            </a:r>
            <a:r>
              <a:rPr lang="en-FI" dirty="0"/>
              <a:t> half sequential, half simultaneous → heterogeneity in one market </a:t>
            </a:r>
            <a:r>
              <a:rPr lang="en-FI" i="1" dirty="0"/>
              <a:t>(the realistic one)</a:t>
            </a:r>
          </a:p>
          <a:p>
            <a:r>
              <a:rPr lang="en-FI" b="1" dirty="0"/>
              <a:t>IE2 — Sequential:</a:t>
            </a:r>
            <a:r>
              <a:rPr lang="en-FI" dirty="0"/>
              <a:t> everyone forgets the blowout → market-wide tilt to </a:t>
            </a:r>
            <a:r>
              <a:rPr lang="en-FI" b="1" dirty="0"/>
              <a:t>F</a:t>
            </a:r>
          </a:p>
          <a:p>
            <a:r>
              <a:rPr lang="en-FI" b="1" dirty="0"/>
              <a:t>IE3 — Simultaneous:</a:t>
            </a:r>
            <a:r>
              <a:rPr lang="en-FI" dirty="0"/>
              <a:t> everyone fixates on the blowout → market-wide tilt to </a:t>
            </a:r>
            <a:r>
              <a:rPr lang="en-FI" b="1" dirty="0"/>
              <a:t>U</a:t>
            </a:r>
          </a:p>
          <a:p>
            <a:endParaRPr lang="en-FI" b="1" dirty="0"/>
          </a:p>
          <a:p>
            <a:r>
              <a:rPr lang="en-FI" dirty="0"/>
              <a:t>→ IE1 is the novel cell: structurally opposing biases sharing one order book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54CD2-7828-D4EB-DD8E-FCFB9E5D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1089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8ED3-417B-824E-6A15-744DAD25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Endowments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A63F2-1B94-8FE0-5530-228B1F712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within-subjects</a:t>
            </a:r>
          </a:p>
          <a:p>
            <a:endParaRPr lang="en-FI" dirty="0"/>
          </a:p>
          <a:p>
            <a:r>
              <a:rPr lang="en-FI" b="1" dirty="0"/>
              <a:t>LD — Low diversification:</a:t>
            </a:r>
            <a:r>
              <a:rPr lang="en-FI" dirty="0"/>
              <a:t> concentrated holdings (all-U or all-F) → strong rebalancing pressure, </a:t>
            </a:r>
            <a:r>
              <a:rPr lang="en-FI" i="1" dirty="0"/>
              <a:t>belief-free</a:t>
            </a:r>
          </a:p>
          <a:p>
            <a:r>
              <a:rPr lang="en-FI" b="1" dirty="0"/>
              <a:t>HD — High diversification:</a:t>
            </a:r>
            <a:r>
              <a:rPr lang="en-FI" dirty="0"/>
              <a:t> already balanced (20/20) → no mechanical motive → </a:t>
            </a:r>
            <a:r>
              <a:rPr lang="en-FI" i="1" dirty="0"/>
              <a:t>belief-driven trade only</a:t>
            </a:r>
          </a:p>
          <a:p>
            <a:endParaRPr lang="en-FI" i="1" dirty="0"/>
          </a:p>
          <a:p>
            <a:r>
              <a:rPr lang="en-FI" dirty="0"/>
              <a:t>Fully counterbalanced across 4 rounds</a:t>
            </a:r>
          </a:p>
          <a:p>
            <a:r>
              <a:rPr lang="en-FI" dirty="0"/>
              <a:t>→ separates "I'm rebalancing" from "I disagree with you"</a:t>
            </a:r>
            <a:endParaRPr lang="en-FI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87641-FE6E-8681-3220-48BBF4D5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2C44-E9FE-4226-9AD0-5CEB6EFFCA1C}" type="slidenum">
              <a:rPr lang="en-FI" smtClean="0"/>
              <a:t>37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7132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</TotalTime>
  <Words>1319</Words>
  <Application>Microsoft Office PowerPoint</Application>
  <PresentationFormat>Widescreen</PresentationFormat>
  <Paragraphs>233</Paragraphs>
  <Slides>37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Wingdings</vt:lpstr>
      <vt:lpstr>Office Theme</vt:lpstr>
      <vt:lpstr>Information Environments and Asset Markets</vt:lpstr>
      <vt:lpstr>Motivation</vt:lpstr>
      <vt:lpstr>Motivation</vt:lpstr>
      <vt:lpstr>Motivation</vt:lpstr>
      <vt:lpstr>Research Questions</vt:lpstr>
      <vt:lpstr>Two assets: Asset F and Asset U</vt:lpstr>
      <vt:lpstr>Two assets × Two information environments</vt:lpstr>
      <vt:lpstr>Simultaneous</vt:lpstr>
      <vt:lpstr>Sequential</vt:lpstr>
      <vt:lpstr>Sequential</vt:lpstr>
      <vt:lpstr>Sequential</vt:lpstr>
      <vt:lpstr>Sequential</vt:lpstr>
      <vt:lpstr>Sequential</vt:lpstr>
      <vt:lpstr>Sequential</vt:lpstr>
      <vt:lpstr>Sequential</vt:lpstr>
      <vt:lpstr>Sequential</vt:lpstr>
      <vt:lpstr>Sequential</vt:lpstr>
      <vt:lpstr>Sequential</vt:lpstr>
      <vt:lpstr>Sequential</vt:lpstr>
      <vt:lpstr>Two assets × Two information environments</vt:lpstr>
      <vt:lpstr>From choice gap to price gap</vt:lpstr>
      <vt:lpstr>Experimental design </vt:lpstr>
      <vt:lpstr>Treatments</vt:lpstr>
      <vt:lpstr>Hypotheses: Trading Volume</vt:lpstr>
      <vt:lpstr>Hypotheses: Prices</vt:lpstr>
      <vt:lpstr>Experimental implementation</vt:lpstr>
      <vt:lpstr>Experimental implementation</vt:lpstr>
      <vt:lpstr>Experimental implementation</vt:lpstr>
      <vt:lpstr>Some first data</vt:lpstr>
      <vt:lpstr>Some first data – Markets</vt:lpstr>
      <vt:lpstr>Some first data – Prices </vt:lpstr>
      <vt:lpstr>Some first data – Beliefs </vt:lpstr>
      <vt:lpstr>Some first data – Trading volume</vt:lpstr>
      <vt:lpstr>Wrap up</vt:lpstr>
      <vt:lpstr>Measures</vt:lpstr>
      <vt:lpstr>Information environments </vt:lpstr>
      <vt:lpstr>Endowments</vt:lpstr>
    </vt:vector>
  </TitlesOfParts>
  <Company>Aalto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Christoph</dc:creator>
  <cp:lastModifiedBy>Huber Christoph</cp:lastModifiedBy>
  <cp:revision>87</cp:revision>
  <dcterms:created xsi:type="dcterms:W3CDTF">2026-06-13T18:55:50Z</dcterms:created>
  <dcterms:modified xsi:type="dcterms:W3CDTF">2026-08-31T06:20:11Z</dcterms:modified>
</cp:coreProperties>
</file>