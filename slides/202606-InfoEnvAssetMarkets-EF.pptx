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85" r:id="rId4"/>
    <p:sldId id="284" r:id="rId5"/>
    <p:sldId id="258" r:id="rId6"/>
    <p:sldId id="259" r:id="rId7"/>
    <p:sldId id="287" r:id="rId8"/>
    <p:sldId id="272" r:id="rId9"/>
    <p:sldId id="283" r:id="rId10"/>
    <p:sldId id="273" r:id="rId11"/>
    <p:sldId id="274" r:id="rId12"/>
    <p:sldId id="277" r:id="rId13"/>
    <p:sldId id="278" r:id="rId14"/>
    <p:sldId id="279" r:id="rId15"/>
    <p:sldId id="280" r:id="rId16"/>
    <p:sldId id="281" r:id="rId17"/>
    <p:sldId id="282" r:id="rId18"/>
    <p:sldId id="275" r:id="rId19"/>
    <p:sldId id="276" r:id="rId20"/>
    <p:sldId id="291" r:id="rId21"/>
    <p:sldId id="260" r:id="rId22"/>
    <p:sldId id="288" r:id="rId23"/>
    <p:sldId id="261" r:id="rId24"/>
    <p:sldId id="266" r:id="rId25"/>
    <p:sldId id="263" r:id="rId26"/>
    <p:sldId id="271" r:id="rId27"/>
    <p:sldId id="290" r:id="rId28"/>
    <p:sldId id="289" r:id="rId29"/>
    <p:sldId id="267" r:id="rId30"/>
    <p:sldId id="292" r:id="rId31"/>
    <p:sldId id="296" r:id="rId32"/>
    <p:sldId id="297" r:id="rId33"/>
    <p:sldId id="295" r:id="rId34"/>
    <p:sldId id="269" r:id="rId35"/>
    <p:sldId id="268" r:id="rId36"/>
    <p:sldId id="262" r:id="rId37"/>
    <p:sldId id="264" r:id="rId38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644" autoAdjust="0"/>
  </p:normalViewPr>
  <p:slideViewPr>
    <p:cSldViewPr snapToGrid="0">
      <p:cViewPr>
        <p:scale>
          <a:sx n="66" d="100"/>
          <a:sy n="66" d="100"/>
        </p:scale>
        <p:origin x="667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CA57C3-BE43-4B51-9A49-3B5D6A82629B}" type="datetimeFigureOut">
              <a:rPr lang="en-FI" smtClean="0"/>
              <a:t>13/06/2026</a:t>
            </a:fld>
            <a:endParaRPr lang="en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37E99A-240E-4A0A-833D-334ECBBC22A0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23904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2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1663808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I" dirty="0"/>
              <a:t>(say: </a:t>
            </a:r>
            <a:r>
              <a:rPr lang="en-FI" i="1" dirty="0"/>
              <a:t>this is the whole engine of the paper</a:t>
            </a:r>
            <a:r>
              <a:rPr lang="en-FI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6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76153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D680D-DD6C-CB6C-26FA-24E5E8A4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4B3AF-51CD-2E76-0726-CA31D9E5D1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5A046E-5A3F-48FE-AFAC-E718B21DD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I" dirty="0"/>
              <a:t>both produce BIASED BELIEFS – but in OPPOSITE DIRECTIONS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BCF76-ABE5-CDE9-E569-ABE21C3CEC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7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992319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FD14C-5F5F-EE98-E444-DD721CD6A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0654E3-7715-5726-25DC-7AF5B1427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1F81B-4CA6-0106-DBCE-919324BB9C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I" dirty="0"/>
              <a:t>both produce BIASED BELIEFS – but in OPPOSITE DIRECTIONS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174C6-794E-5B65-9BFD-A35F1D647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20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919851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I" dirty="0"/>
              <a:t>Why cross them	</a:t>
            </a:r>
          </a:p>
          <a:p>
            <a:r>
              <a:rPr lang="en-FI" dirty="0"/>
              <a:t>- Belief heterogeneity → speculative trade</a:t>
            </a:r>
          </a:p>
          <a:p>
            <a:r>
              <a:rPr lang="en-FI" dirty="0"/>
              <a:t>- Concentrated portfolios → rebalancing trade</a:t>
            </a:r>
          </a:p>
          <a:p>
            <a:r>
              <a:rPr lang="en-FI" dirty="0"/>
              <a:t>- Cross the two → read off how much of volume is </a:t>
            </a:r>
            <a:r>
              <a:rPr lang="en-FI" i="1" dirty="0"/>
              <a:t>which</a:t>
            </a:r>
          </a:p>
          <a:p>
            <a:r>
              <a:rPr lang="en-FI" dirty="0"/>
              <a:t>— and whether they interact</a:t>
            </a:r>
          </a:p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23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544896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I" dirty="0"/>
              <a:t>[visual: the 3×2 grid, shaded </a:t>
            </a:r>
            <a:r>
              <a:rPr lang="en-FI" dirty="0" err="1"/>
              <a:t>dark→light</a:t>
            </a:r>
            <a:r>
              <a:rPr lang="en-FI" dirty="0"/>
              <a:t> by predicted volume]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24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5596204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25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632511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27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9942566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FI" i="1" dirty="0"/>
              <a:t>[Drop your pilot result here — I don't have your numbers. Frame it honestly:]</a:t>
            </a:r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29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2042253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30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62015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31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4337327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6F696-0AC7-ED63-FAE0-DDF020021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ED6EA8-E9AA-2269-7239-AC4ED2B06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D8E472-FC3C-B3FA-9F32-AE0434628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54E62F-E347-B6BA-9D76-A60D49104D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7E99A-240E-4A0A-833D-334ECBBC22A0}" type="slidenum">
              <a:rPr lang="en-FI" smtClean="0"/>
              <a:t>32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826098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9E58E-AA9B-7D75-ECD6-7735C6C4F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708E68-B727-1FD4-1091-0143D3B175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E264D-E080-A5F0-5528-86BB9B299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F697F-2730-4AF1-88F7-BB1B5F8ECCC5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8D44E-EFFE-75F8-8EE9-3BF466D9D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55CBD-D80F-590D-78B8-6CEC219CC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782865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82EAF-8CBA-1E5B-C317-4BD6EF9E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AFEFC-5979-E6D6-EF61-EBD0E3DAD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A9125-EAC9-3FB2-C797-82C8C8C15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63FF8-ED89-4AF3-A2FE-D455646C1744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F96C0-539E-EEF4-A943-B8A6DA6B6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D0467-EBE5-E13C-D5A6-A95D87776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00137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E107B-B2D6-2901-36AD-0EA56AE58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DB9EA9-4235-3625-F075-4D2E64B89D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7C4567-39C3-0010-0A50-B88062F02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E024B3-6FB9-4AE8-9853-11C2601275AE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58F41-2A3E-A2AC-372B-601A49952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DDA57-2E9D-9A95-8346-A7E460C15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5361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C3B4-7540-7F81-D26F-9E36F196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DE694-D367-4BF3-86BE-574787FA9C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D9D2E6-B56F-A1CB-9AA6-83F07039BE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2A3DD-A73D-FED6-27BE-064838891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E8D9D-52F1-435C-B12C-46A0776D0450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B9B5D0-D53A-C8F2-954D-6ED2F2DD1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FF3274-2500-64A4-2F9E-225F11842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285465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7F04D-2358-0200-AC54-552974D0F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AFA18D-B72D-12BA-6ED4-0B216B43B1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FA8B2-5D7A-FC67-ED21-406660423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08CEE0-5403-4EA8-1C39-5A799E4B5D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A5C0D0-57A7-6218-5519-74DD38A8C6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38F68C-DB20-56A9-AED7-D9983E4A8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EA497-A4AD-4D4F-B443-B927F927B306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E6D4A7-B2B4-6170-DE7F-156D5E2E0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6F2C6F-70B7-CCB9-3F48-969092B25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82881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2160D-3BBF-E4BA-4F1A-202FB6CB7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B5B0B2-4C2D-865E-0183-912430C38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815E1-4BD7-48C1-B167-0869006FCC53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90F867-EDA3-A174-1EED-A72474065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F9066D-63A8-9626-C8D0-062B3480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75004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555940-288E-651F-C9D0-C073B0683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89290C-887C-4D09-BC54-90A5B54F007A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EA0B91-C05F-7CB0-C14B-413C7DE78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A0831-BF0D-874F-8D9C-9DDDD0EF1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54441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A8B32-E8FA-2715-938F-D6EAC0837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7B7DE-7D9B-6F6B-6E04-A154D81D0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C9A77C-DDD9-49BB-2E3B-ABF234B45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AB6BAC-7BF7-6EDC-892B-8BE8B358A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A6404-15A4-4A90-A564-1B2D473123EE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D2764-22E9-D4B7-1D9D-1D2869901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FC05EB-3E1D-B130-A7FF-37C22AF7D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325123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8F6C9-659D-5778-46D2-A47BD4BCD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77D0B5-FAEF-145C-DAA7-F703138B6F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6CF643-BC8D-AE9A-2E02-5E27C34F26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C525A-700D-5E13-4E38-3403A705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A9757-DCED-4989-8E53-11E599DB1443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5B4F7-A03E-4C16-2F4B-AF7678E9D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A62A8-646D-DCCB-6E67-B56D6B6D1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691214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C5AD1-BB53-1739-8A87-3BFF64DFF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550902-151E-6FBD-76BA-AF40FEF4AC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B3344-7901-5EC9-64AA-388CCF2BB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332EC-6693-4479-8497-E8CCAAB88D5B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BEFCF-0A60-B6F9-9A30-04E6DF13A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81621-F9C0-56AA-DCE4-D905FF7E8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696695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9913C-82C4-9827-0B1E-87403C6BA0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217EAE-277B-D136-3F16-36E76C1EA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C3924-5807-F763-E692-3D05CA30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75B0-FA21-4C76-B00D-5B7164D8CFDF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C5BB3-CECE-5673-4033-734B42346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2A04-07E8-BE09-2116-6B2B0A06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430618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9E6C5D-32F3-05DE-A70F-5ADAC3B4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2B2F01-C325-FA61-E6C8-D750B0FB27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9BB84-FFD7-E4DF-3268-1891D88B2E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7385D-3822-4684-B617-F7228FD759B8}" type="datetime8">
              <a:rPr lang="en-FI" smtClean="0"/>
              <a:t>14/06/2026 13.08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25141-6F7D-0A08-0C23-0D0B296ABA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9DF04-C9BE-6088-3A86-7160382FDE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0F2C44-E9FE-4226-9AD0-5CEB6EFFCA1C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93914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jp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E9C7A-8779-85E5-5657-476375C88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05317"/>
          </a:xfrm>
        </p:spPr>
        <p:txBody>
          <a:bodyPr/>
          <a:lstStyle/>
          <a:p>
            <a:r>
              <a:rPr lang="en-FI" dirty="0"/>
              <a:t>Information Environments and Asset Markets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59944-7C6D-A167-8DD4-78BDD57AB7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587095"/>
          </a:xfrm>
        </p:spPr>
        <p:txBody>
          <a:bodyPr>
            <a:normAutofit lnSpcReduction="10000"/>
          </a:bodyPr>
          <a:lstStyle/>
          <a:p>
            <a:r>
              <a:rPr lang="en-FI" dirty="0"/>
              <a:t>Christoph Huber, Debrah </a:t>
            </a:r>
            <a:r>
              <a:rPr lang="en-FI" dirty="0" err="1"/>
              <a:t>Meloso</a:t>
            </a:r>
            <a:r>
              <a:rPr lang="en-FI" dirty="0"/>
              <a:t>, Michael Ungeheuer</a:t>
            </a:r>
          </a:p>
          <a:p>
            <a:endParaRPr lang="en-FI" dirty="0"/>
          </a:p>
          <a:p>
            <a:r>
              <a:rPr lang="en-FI" dirty="0"/>
              <a:t>Experimental Finance 2026</a:t>
            </a:r>
          </a:p>
          <a:p>
            <a:endParaRPr lang="en-FI" dirty="0"/>
          </a:p>
          <a:p>
            <a:r>
              <a:rPr lang="en-FI" dirty="0"/>
              <a:t>Toulouse</a:t>
            </a:r>
          </a:p>
          <a:p>
            <a:r>
              <a:rPr lang="en-FI" dirty="0"/>
              <a:t>15 June, 2026</a:t>
            </a:r>
          </a:p>
          <a:p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2907577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15E006E-10FC-1C12-A332-CE11309DBB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83" y="3389523"/>
            <a:ext cx="4628898" cy="30105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175CE-7A2A-FAA3-CF1E-8172DAD78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65610-EA46-1D4F-C729-234887875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FI" dirty="0"/>
              <a:t>Investors learn about security information in different ways</a:t>
            </a:r>
          </a:p>
          <a:p>
            <a:endParaRPr lang="en-FI" dirty="0"/>
          </a:p>
          <a:p>
            <a:pPr lvl="1"/>
            <a:r>
              <a:rPr lang="en-FI" b="1" dirty="0"/>
              <a:t>Sequential</a:t>
            </a:r>
            <a:r>
              <a:rPr lang="en-FI" dirty="0"/>
              <a:t> — historical charts, earnings announcements over time, etc.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C05D37-F0D4-3E22-4510-4F9FB9EC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</a:t>
            </a:fld>
            <a:endParaRPr lang="en-FI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9D3079-8A84-FAD1-30C5-EE62EAAFEC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8640" y="3210401"/>
            <a:ext cx="5676506" cy="36475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BCA832-22D6-89B5-023D-D9364E46D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1040" y="3247285"/>
            <a:ext cx="5659119" cy="3295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999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0558-D083-85C7-3981-0B21EAD0A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E26E8-B9BB-1191-B174-5EDF8B515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E7840-FEA4-522F-BC4C-9637380B0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FI" dirty="0"/>
              <a:t>Investors learn about returns in different ways</a:t>
            </a:r>
          </a:p>
          <a:p>
            <a:endParaRPr lang="en-FI" dirty="0"/>
          </a:p>
          <a:p>
            <a:pPr lvl="1"/>
            <a:r>
              <a:rPr lang="en-FI" b="1" dirty="0"/>
              <a:t>Simultaneous</a:t>
            </a:r>
            <a:r>
              <a:rPr lang="en-FI" dirty="0"/>
              <a:t> — distributional summaries, MiFID Key Information Docs, fact sheets, etc.</a:t>
            </a:r>
          </a:p>
        </p:txBody>
      </p:sp>
      <p:pic>
        <p:nvPicPr>
          <p:cNvPr id="2050" name="Picture 2" descr="moneyball git analytics">
            <a:extLst>
              <a:ext uri="{FF2B5EF4-FFF2-40B4-BE49-F238E27FC236}">
                <a16:creationId xmlns:a16="http://schemas.microsoft.com/office/drawing/2014/main" id="{EDF8D042-2900-95DD-1AE3-DB34AB398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317" y="3429000"/>
            <a:ext cx="5269747" cy="314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9B9AA1-81BA-2545-082A-4D05C64B5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3926" y="3720852"/>
            <a:ext cx="8977138" cy="28577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B33CD51-23E5-AB82-CA96-5FBF40C6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367" y="4716501"/>
            <a:ext cx="4944393" cy="18620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FA0EC4-1DBC-A576-642F-A062150D57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9234" y="3330552"/>
            <a:ext cx="3905326" cy="3248048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99068A-D404-6E86-44AF-19F08CCDE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3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81677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A7A75-A7AF-6A9E-A5EC-893FAD632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48A82-DD74-1976-2E52-3C0900272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Motivation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40F684-C0FE-5C92-505D-BB0E9AD0FF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81374"/>
                <a:ext cx="10515600" cy="4774976"/>
              </a:xfrm>
            </p:spPr>
            <p:txBody>
              <a:bodyPr>
                <a:normAutofit/>
              </a:bodyPr>
              <a:lstStyle/>
              <a:p>
                <a:r>
                  <a:rPr lang="en-FI" dirty="0"/>
                  <a:t>Investors learn about returns in different ways</a:t>
                </a:r>
              </a:p>
              <a:p>
                <a:endParaRPr lang="en-FI" sz="1400" dirty="0"/>
              </a:p>
              <a:p>
                <a:pPr lvl="1"/>
                <a:r>
                  <a:rPr lang="en-FI" b="1" dirty="0"/>
                  <a:t>Sequential</a:t>
                </a:r>
                <a:r>
                  <a:rPr lang="en-FI" dirty="0"/>
                  <a:t> — historical charts, earnings announcements over time, etc.</a:t>
                </a:r>
              </a:p>
              <a:p>
                <a:pPr lvl="1"/>
                <a:r>
                  <a:rPr lang="en-FI" b="1" dirty="0"/>
                  <a:t>Simultaneous</a:t>
                </a:r>
                <a:r>
                  <a:rPr lang="en-FI" dirty="0"/>
                  <a:t> — distributional summaries, MiFID Key Information Docs, fact sheets, etc.</a:t>
                </a:r>
              </a:p>
              <a:p>
                <a:pPr lvl="1"/>
                <a:endParaRPr lang="en-FI" sz="2800" dirty="0"/>
              </a:p>
              <a:p>
                <a:r>
                  <a:rPr lang="en-FI" dirty="0"/>
                  <a:t>Same information, but heterogeneity in information environments</a:t>
                </a:r>
              </a:p>
              <a:p>
                <a:r>
                  <a:rPr lang="en-FI" dirty="0"/>
                  <a:t>Bohren et al. (2024) find these to produce opposite biases </a:t>
                </a:r>
              </a:p>
              <a:p>
                <a:endParaRPr lang="en-FI" sz="1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FI" b="0" i="1" smtClean="0">
                        <a:latin typeface="Cambria Math" panose="02040503050406030204" pitchFamily="18" charset="0"/>
                      </a:rPr>
                      <m:t>→  </m:t>
                    </m:r>
                  </m:oMath>
                </a14:m>
                <a:r>
                  <a:rPr lang="en-FI" dirty="0"/>
                  <a:t>financial markets are full of investors with </a:t>
                </a:r>
                <a:br>
                  <a:rPr lang="en-FI" dirty="0"/>
                </a:br>
                <a:r>
                  <a:rPr lang="en-FI" dirty="0"/>
                  <a:t>      </a:t>
                </a:r>
                <a:r>
                  <a:rPr lang="en-FI" i="1" dirty="0"/>
                  <a:t>opposite</a:t>
                </a:r>
                <a:r>
                  <a:rPr lang="en-FI" dirty="0"/>
                  <a:t> biases about the </a:t>
                </a:r>
                <a:r>
                  <a:rPr lang="en-FI" i="1" dirty="0"/>
                  <a:t>same</a:t>
                </a:r>
                <a:r>
                  <a:rPr lang="en-FI" dirty="0"/>
                  <a:t> assets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40F684-C0FE-5C92-505D-BB0E9AD0FF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81374"/>
                <a:ext cx="10515600" cy="4774976"/>
              </a:xfrm>
              <a:blipFill>
                <a:blip r:embed="rId2"/>
                <a:stretch>
                  <a:fillRect l="-1043" t="-2168" r="-116" b="-255"/>
                </a:stretch>
              </a:blipFill>
            </p:spPr>
            <p:txBody>
              <a:bodyPr/>
              <a:lstStyle/>
              <a:p>
                <a:r>
                  <a:rPr lang="en-FI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4AA258-7669-140F-B06B-2AFDB31B0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4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144459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7A02E-F2EC-A091-DB62-59FDC7649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Research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0DFF79-0B62-025B-92C6-5AA4D7008F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FI" dirty="0"/>
                  <a:t>Bohren et al.: individual choices &amp; beliefs, no market, no prices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FI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FI" dirty="0"/>
                  <a:t> What if these biased investors trade with each other?</a:t>
                </a:r>
              </a:p>
              <a:p>
                <a:pPr marL="0" indent="0">
                  <a:buNone/>
                </a:pPr>
                <a:endParaRPr lang="en-FI" dirty="0"/>
              </a:p>
              <a:p>
                <a:r>
                  <a:rPr lang="en-US" dirty="0"/>
                  <a:t>Do belief distortions </a:t>
                </a:r>
                <a:r>
                  <a:rPr lang="en-FI" dirty="0"/>
                  <a:t>induced by different information environ</a:t>
                </a:r>
                <a:r>
                  <a:rPr lang="en-GB" dirty="0" err="1"/>
                  <a:t>ment</a:t>
                </a:r>
                <a:r>
                  <a:rPr lang="en-FI" dirty="0"/>
                  <a:t>s </a:t>
                </a:r>
                <a:r>
                  <a:rPr lang="en-US" dirty="0"/>
                  <a:t>survive competition, order books, real money?</a:t>
                </a:r>
                <a:endParaRPr lang="en-FI" dirty="0"/>
              </a:p>
              <a:p>
                <a:r>
                  <a:rPr lang="en-FI" dirty="0"/>
                  <a:t>Do their errors cancel out or compound?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FI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FI" dirty="0"/>
                  <a:t> F</a:t>
                </a:r>
                <a:r>
                  <a:rPr lang="en-US" dirty="0"/>
                  <a:t>irst market-level test of information-environment-induced </a:t>
                </a:r>
                <a:br>
                  <a:rPr lang="en-FI" dirty="0"/>
                </a:br>
                <a:r>
                  <a:rPr lang="en-FI" dirty="0"/>
                  <a:t>     </a:t>
                </a:r>
                <a:r>
                  <a:rPr lang="en-US" dirty="0"/>
                  <a:t>belief heterogeneity. </a:t>
                </a:r>
                <a:endParaRPr lang="en-FI" dirty="0"/>
              </a:p>
              <a:p>
                <a:pPr marL="0" indent="0">
                  <a:buNone/>
                </a:pPr>
                <a:endParaRPr lang="en-FI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0DFF79-0B62-025B-92C6-5AA4D7008F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b="-2941"/>
                </a:stretch>
              </a:blipFill>
            </p:spPr>
            <p:txBody>
              <a:bodyPr/>
              <a:lstStyle/>
              <a:p>
                <a:r>
                  <a:rPr lang="en-FI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93B769-246E-6ECF-161E-1FF356FEA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5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020433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969C8-3578-9767-13AA-0D621766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Two assets: Asset F and Asset 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7A42D-850F-FAB9-8D9C-716F7076C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4719" y="1533694"/>
            <a:ext cx="6065521" cy="464326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FI" b="1" dirty="0"/>
          </a:p>
          <a:p>
            <a:r>
              <a:rPr lang="en-FI" sz="3200" b="1" dirty="0"/>
              <a:t>Asset F</a:t>
            </a:r>
            <a:endParaRPr lang="en-FI" sz="3200" dirty="0"/>
          </a:p>
          <a:p>
            <a:pPr lvl="1"/>
            <a:r>
              <a:rPr lang="en-FI" sz="2600" dirty="0"/>
              <a:t>slightly ahead 10 out of 11 times</a:t>
            </a:r>
          </a:p>
          <a:p>
            <a:pPr lvl="1"/>
            <a:r>
              <a:rPr lang="en-FI" sz="2600" b="1" i="1" dirty="0"/>
              <a:t>F</a:t>
            </a:r>
            <a:r>
              <a:rPr lang="en-FI" sz="2600" i="1" dirty="0"/>
              <a:t>requent</a:t>
            </a:r>
            <a:r>
              <a:rPr lang="en-FI" sz="2600" dirty="0"/>
              <a:t> </a:t>
            </a:r>
            <a:r>
              <a:rPr lang="en-FI" sz="2600" i="1" dirty="0"/>
              <a:t>winner</a:t>
            </a:r>
          </a:p>
          <a:p>
            <a:endParaRPr lang="en-FI" b="1" dirty="0"/>
          </a:p>
          <a:p>
            <a:r>
              <a:rPr lang="en-FI" sz="3200" b="1" dirty="0"/>
              <a:t>Asset U</a:t>
            </a:r>
          </a:p>
          <a:p>
            <a:pPr lvl="1"/>
            <a:r>
              <a:rPr lang="en-FI" sz="2600" dirty="0"/>
              <a:t>dramatically ahead 1 out of 11 times</a:t>
            </a:r>
          </a:p>
          <a:p>
            <a:pPr lvl="1"/>
            <a:r>
              <a:rPr lang="en-FI" sz="2600" b="1" i="1" dirty="0"/>
              <a:t>U</a:t>
            </a:r>
            <a:r>
              <a:rPr lang="en-FI" sz="2600" i="1" dirty="0"/>
              <a:t>nlikely winner</a:t>
            </a:r>
          </a:p>
          <a:p>
            <a:endParaRPr lang="en-FI" dirty="0"/>
          </a:p>
          <a:p>
            <a:endParaRPr lang="en-FI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0BF416-3B9B-426E-DA5B-00C7B25F8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10" y="1533694"/>
            <a:ext cx="5581709" cy="4962358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4D90F-8509-9B3D-BBC3-07C7DA579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6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892549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4A88-4F38-1410-12F6-072CE61FF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6E7E64-0451-29CC-CCC3-7435B9BB56D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FI" dirty="0"/>
                  <a:t>Two assets </a:t>
                </a:r>
                <a14:m>
                  <m:oMath xmlns:m="http://schemas.openxmlformats.org/officeDocument/2006/math">
                    <m:r>
                      <a:rPr lang="en-FI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FI" dirty="0"/>
                  <a:t> Two information environments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6E7E64-0451-29CC-CCC3-7435B9BB56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FI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A9CE6-2EAA-90E8-92E6-EC66F3317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1353800" cy="4802187"/>
          </a:xfrm>
        </p:spPr>
        <p:txBody>
          <a:bodyPr>
            <a:normAutofit/>
          </a:bodyPr>
          <a:lstStyle/>
          <a:p>
            <a:r>
              <a:rPr lang="en-FI" b="1" dirty="0"/>
              <a:t>Asset F</a:t>
            </a:r>
            <a:r>
              <a:rPr lang="en-FI" dirty="0"/>
              <a:t> — slightly ahead in 10 of 11 states, </a:t>
            </a:r>
            <a:r>
              <a:rPr lang="en-FI" b="1" i="1" dirty="0"/>
              <a:t>F</a:t>
            </a:r>
            <a:r>
              <a:rPr lang="en-FI" i="1" dirty="0"/>
              <a:t>requent</a:t>
            </a:r>
            <a:r>
              <a:rPr lang="en-FI" dirty="0"/>
              <a:t> winner</a:t>
            </a:r>
          </a:p>
          <a:p>
            <a:r>
              <a:rPr lang="en-FI" b="1" dirty="0"/>
              <a:t>Asset U</a:t>
            </a:r>
            <a:r>
              <a:rPr lang="en-FI" dirty="0"/>
              <a:t> — dramatically ahead in 1 of 11 states, </a:t>
            </a:r>
            <a:r>
              <a:rPr lang="en-FI" b="1" i="1" dirty="0"/>
              <a:t>U</a:t>
            </a:r>
            <a:r>
              <a:rPr lang="en-FI" i="1" dirty="0"/>
              <a:t>nlikely</a:t>
            </a:r>
            <a:r>
              <a:rPr lang="en-FI" dirty="0"/>
              <a:t> winner</a:t>
            </a:r>
          </a:p>
          <a:p>
            <a:endParaRPr lang="en-FI" sz="1200" b="1" dirty="0"/>
          </a:p>
          <a:p>
            <a:r>
              <a:rPr lang="en-FI" b="1" dirty="0"/>
              <a:t>Sequential</a:t>
            </a:r>
            <a:endParaRPr lang="en-FI" dirty="0"/>
          </a:p>
          <a:p>
            <a:pPr lvl="1"/>
            <a:r>
              <a:rPr lang="en-FI" dirty="0">
                <a:solidFill>
                  <a:schemeClr val="bg1"/>
                </a:solidFill>
                <a:sym typeface="Wingdings" panose="05000000000000000000" pitchFamily="2" charset="2"/>
              </a:rPr>
              <a:t>imperfect memory recall </a:t>
            </a:r>
            <a:br>
              <a:rPr lang="en-FI" dirty="0">
                <a:solidFill>
                  <a:schemeClr val="bg1"/>
                </a:solidFill>
                <a:sym typeface="Wingdings" panose="05000000000000000000" pitchFamily="2" charset="2"/>
              </a:rPr>
            </a:br>
            <a:r>
              <a:rPr lang="en-FI" dirty="0">
                <a:solidFill>
                  <a:schemeClr val="bg1"/>
                </a:solidFill>
                <a:sym typeface="Wingdings" panose="05000000000000000000" pitchFamily="2" charset="2"/>
              </a:rPr>
              <a:t> people misremember rare outperformance of U  </a:t>
            </a:r>
            <a:r>
              <a:rPr lang="en-FI" b="1" dirty="0">
                <a:solidFill>
                  <a:schemeClr val="bg1"/>
                </a:solidFill>
                <a:sym typeface="Wingdings" panose="05000000000000000000" pitchFamily="2" charset="2"/>
              </a:rPr>
              <a:t>85% choose F</a:t>
            </a:r>
            <a:endParaRPr lang="en-FI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FI" b="1" dirty="0">
                <a:sym typeface="Wingdings" panose="05000000000000000000" pitchFamily="2" charset="2"/>
              </a:rPr>
              <a:t>Simultaneous</a:t>
            </a:r>
          </a:p>
          <a:p>
            <a:pPr lvl="1"/>
            <a:r>
              <a:rPr lang="en-FI" dirty="0">
                <a:solidFill>
                  <a:schemeClr val="bg1"/>
                </a:solidFill>
              </a:rPr>
              <a:t>limited attention </a:t>
            </a:r>
            <a:br>
              <a:rPr lang="en-FI" dirty="0">
                <a:solidFill>
                  <a:schemeClr val="bg1"/>
                </a:solidFill>
              </a:rPr>
            </a:br>
            <a:r>
              <a:rPr lang="en-FI" dirty="0">
                <a:solidFill>
                  <a:schemeClr val="bg1"/>
                </a:solidFill>
                <a:sym typeface="Wingdings" panose="05000000000000000000" pitchFamily="2" charset="2"/>
              </a:rPr>
              <a:t> people overweight salient outperformance of U  </a:t>
            </a:r>
            <a:r>
              <a:rPr lang="en-FI" b="1" dirty="0">
                <a:solidFill>
                  <a:schemeClr val="bg1"/>
                </a:solidFill>
                <a:sym typeface="Wingdings" panose="05000000000000000000" pitchFamily="2" charset="2"/>
              </a:rPr>
              <a:t>42% choose F</a:t>
            </a:r>
            <a:endParaRPr lang="en-FI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lvl="1"/>
            <a:endParaRPr lang="en-FI" dirty="0"/>
          </a:p>
          <a:p>
            <a:pPr marL="0" indent="0">
              <a:buNone/>
            </a:pPr>
            <a:r>
              <a:rPr lang="en-FI" sz="2400" dirty="0">
                <a:solidFill>
                  <a:schemeClr val="bg1"/>
                </a:solidFill>
              </a:rPr>
              <a:t>(Bohren, Hascher, Imas, Ungeheuer, Weber, 2024)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BBAF10-8877-097F-00AE-ED6CBB953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7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246125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0615B6-46E1-BE74-3875-9ADFB8B716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42273" y="365125"/>
            <a:ext cx="7738247" cy="61277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B5350E-AD98-3E6B-6E0C-8EDA5BF2C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Simultaneous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4C1B9-8FCD-AEEF-7720-FF56DEDBC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8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792023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61717-053C-38C7-B075-D8EA16589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177F9-8A64-2CE3-B303-8D5C3FC86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97A562B-1283-5EF8-087C-1F69F1DEB9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8709D-03F6-D085-07A1-F538B37D1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9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222126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72425-58F4-205E-73D9-7CBFF1CBA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D1E5E-9803-0A6B-8072-6B4C00E96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EB1CEE-AE36-E023-4242-6CCC69FEA1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B2836-FEA7-B93C-4B39-FBCDABADA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10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746339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FC828-0ACD-E6E9-4926-5405959BF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B0F4-004E-210B-9F6C-1CC36D233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7E21AF9-D279-823D-2328-D2E4DCA1AF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EFA31-B3E8-279C-5642-CF31182A0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192311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79586-2D7E-29FA-2804-38150311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06770-4888-BEDD-1C20-EB29AE212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3CF6A7-02C5-0C9D-A1BC-0E50EC1B58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BEEC8-5A74-8F1B-2D44-0374006FB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12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825753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777A7-51C7-4966-1B22-624EA832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FB7DB-B1E8-ABA2-622B-6F231E03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C8CB0E-1E9B-9900-9405-CF3CC71A5C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6D967-744C-7AD3-1D4F-FBC89363F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13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74186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5F13F-8085-EF2F-F2CF-44DD52613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95DDF-3B22-C352-B5C6-538E1E55B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A678133-E289-0C38-F300-71E6BAC42C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87C91-5F10-ABAD-872B-E2CC5D2E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14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65265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E748B-2068-9C40-D147-50A428121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631F2-5E30-4058-9427-03FCE9BA3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5615010-FA78-0512-A63E-D441C4AC38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0E3B0-C1D3-D82A-69EB-99DDF08D3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15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24164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8D378-F457-1AC0-D2E3-E2B08011C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D7FE5-4A0F-297E-6F94-C3A8B8911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CA3C7D-4EFC-A975-DDFA-D0628E61BF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EE7DA-5530-176F-1A6F-2E95736CA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16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156514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96A09-EF73-B85C-3701-99108E2D5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50C7F-0FFE-1CF4-F059-2372F671E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E0D1560-ECF9-8D5B-AFC0-E31E8BDD5B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40711-7319-19D6-D569-C155867A6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17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6501204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59E5-5787-8CE1-D6EE-76EE5C4C0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05797-48E6-A5E4-1681-103E74769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61B6EE-8E83-3585-0B18-8A849D034A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58137-430A-D42A-B232-792CCD83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18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329105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CBF11-D61E-F780-8C80-574C20FB8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D495-4E59-7195-16BF-363A12798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Sequential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CD80DD-FF9A-D365-2355-4EFEDE369D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5553" y="365125"/>
            <a:ext cx="7738247" cy="612775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A6F2A7-EECF-52E9-5CE7-1A20AC76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19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400679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FF056-1196-6229-3115-788CF806B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39C7D93-34BB-85D4-986E-005E55298BF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FI" dirty="0"/>
                  <a:t>Two assets </a:t>
                </a:r>
                <a14:m>
                  <m:oMath xmlns:m="http://schemas.openxmlformats.org/officeDocument/2006/math">
                    <m:r>
                      <a:rPr lang="en-FI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FI" dirty="0"/>
                  <a:t> Two information environments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39C7D93-34BB-85D4-986E-005E55298B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FI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E661E-FF18-C6DF-403C-79ECAE70B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1353800" cy="4802187"/>
          </a:xfrm>
        </p:spPr>
        <p:txBody>
          <a:bodyPr>
            <a:normAutofit/>
          </a:bodyPr>
          <a:lstStyle/>
          <a:p>
            <a:r>
              <a:rPr lang="en-FI" b="1" dirty="0"/>
              <a:t>Asset F</a:t>
            </a:r>
            <a:r>
              <a:rPr lang="en-FI" dirty="0"/>
              <a:t> — slightly ahead in 10 of 11 states, </a:t>
            </a:r>
            <a:r>
              <a:rPr lang="en-FI" b="1" i="1" dirty="0"/>
              <a:t>F</a:t>
            </a:r>
            <a:r>
              <a:rPr lang="en-FI" i="1" dirty="0"/>
              <a:t>requent</a:t>
            </a:r>
            <a:r>
              <a:rPr lang="en-FI" dirty="0"/>
              <a:t> winner</a:t>
            </a:r>
          </a:p>
          <a:p>
            <a:r>
              <a:rPr lang="en-FI" b="1" dirty="0"/>
              <a:t>Asset U</a:t>
            </a:r>
            <a:r>
              <a:rPr lang="en-FI" dirty="0"/>
              <a:t> — dramatically ahead in 1 of 11 states, </a:t>
            </a:r>
            <a:r>
              <a:rPr lang="en-FI" b="1" i="1" dirty="0"/>
              <a:t>U</a:t>
            </a:r>
            <a:r>
              <a:rPr lang="en-FI" i="1" dirty="0"/>
              <a:t>nlikely</a:t>
            </a:r>
            <a:r>
              <a:rPr lang="en-FI" dirty="0"/>
              <a:t> winner</a:t>
            </a:r>
          </a:p>
          <a:p>
            <a:endParaRPr lang="en-FI" sz="1200" b="1" dirty="0"/>
          </a:p>
          <a:p>
            <a:r>
              <a:rPr lang="en-FI" b="1" dirty="0"/>
              <a:t>Sequential</a:t>
            </a:r>
            <a:endParaRPr lang="en-FI" dirty="0"/>
          </a:p>
          <a:p>
            <a:pPr lvl="1"/>
            <a:r>
              <a:rPr lang="en-FI" dirty="0">
                <a:sym typeface="Wingdings" panose="05000000000000000000" pitchFamily="2" charset="2"/>
              </a:rPr>
              <a:t>imperfect memory recall </a:t>
            </a:r>
            <a:br>
              <a:rPr lang="en-FI" dirty="0">
                <a:sym typeface="Wingdings" panose="05000000000000000000" pitchFamily="2" charset="2"/>
              </a:rPr>
            </a:br>
            <a:r>
              <a:rPr lang="en-FI" dirty="0">
                <a:sym typeface="Wingdings" panose="05000000000000000000" pitchFamily="2" charset="2"/>
              </a:rPr>
              <a:t> people misremember rare outperformance of U  </a:t>
            </a:r>
            <a:r>
              <a:rPr lang="en-FI" b="1" dirty="0">
                <a:sym typeface="Wingdings" panose="05000000000000000000" pitchFamily="2" charset="2"/>
              </a:rPr>
              <a:t>85% choose F</a:t>
            </a:r>
            <a:endParaRPr lang="en-FI" dirty="0">
              <a:sym typeface="Wingdings" panose="05000000000000000000" pitchFamily="2" charset="2"/>
            </a:endParaRPr>
          </a:p>
          <a:p>
            <a:r>
              <a:rPr lang="en-FI" b="1" dirty="0">
                <a:sym typeface="Wingdings" panose="05000000000000000000" pitchFamily="2" charset="2"/>
              </a:rPr>
              <a:t>Simultaneous</a:t>
            </a:r>
          </a:p>
          <a:p>
            <a:pPr lvl="1"/>
            <a:r>
              <a:rPr lang="en-FI" dirty="0"/>
              <a:t>limited attention </a:t>
            </a:r>
            <a:br>
              <a:rPr lang="en-FI" dirty="0"/>
            </a:br>
            <a:r>
              <a:rPr lang="en-FI" dirty="0">
                <a:sym typeface="Wingdings" panose="05000000000000000000" pitchFamily="2" charset="2"/>
              </a:rPr>
              <a:t> people overweight salient outperformance of U  </a:t>
            </a:r>
            <a:r>
              <a:rPr lang="en-FI" b="1" dirty="0">
                <a:sym typeface="Wingdings" panose="05000000000000000000" pitchFamily="2" charset="2"/>
              </a:rPr>
              <a:t>42% choose F</a:t>
            </a:r>
            <a:endParaRPr lang="en-FI" dirty="0">
              <a:sym typeface="Wingdings" panose="05000000000000000000" pitchFamily="2" charset="2"/>
            </a:endParaRPr>
          </a:p>
          <a:p>
            <a:pPr lvl="1"/>
            <a:endParaRPr lang="en-FI" dirty="0"/>
          </a:p>
          <a:p>
            <a:pPr marL="0" indent="0">
              <a:buNone/>
            </a:pPr>
            <a:r>
              <a:rPr lang="en-FI" sz="2400" dirty="0"/>
              <a:t>(Bohren, Hascher, Imas, Ungeheuer, Weber, 2024)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A9631-38B9-A3A6-791D-4F0C3EF00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20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78888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BE880-693B-F751-73F4-1DFF309AA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From choice gap to price gap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1A77D-0E92-3436-99E0-7E5D3BBC5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/>
          </a:bodyPr>
          <a:lstStyle/>
          <a:p>
            <a:r>
              <a:rPr lang="en-FI" dirty="0"/>
              <a:t>Asset F and Asset U: </a:t>
            </a:r>
            <a:r>
              <a:rPr lang="en-FI" b="1" dirty="0"/>
              <a:t>identical marginals</a:t>
            </a:r>
          </a:p>
          <a:p>
            <a:pPr lvl="1"/>
            <a:r>
              <a:rPr lang="en-FI" dirty="0"/>
              <a:t>Asset F: {0.00, 0.20, 0.40, ..., 2.00} – 11 values, each equally likely </a:t>
            </a:r>
          </a:p>
          <a:p>
            <a:pPr lvl="1"/>
            <a:r>
              <a:rPr lang="en-FI" dirty="0"/>
              <a:t>Asset U: {0.00, 0.20, 0.40, ..., 2.00} – the same 11 values, equally likely</a:t>
            </a:r>
          </a:p>
          <a:p>
            <a:r>
              <a:rPr lang="en-FI" dirty="0"/>
              <a:t>In isolation, any rational investor should </a:t>
            </a:r>
            <a:r>
              <a:rPr lang="en-FI" b="1" dirty="0"/>
              <a:t>value them the same</a:t>
            </a:r>
          </a:p>
          <a:p>
            <a:endParaRPr lang="en-FI" dirty="0"/>
          </a:p>
          <a:p>
            <a:r>
              <a:rPr lang="en-FI" dirty="0"/>
              <a:t>If we find an F–U price gap = distorted interpretation of the </a:t>
            </a:r>
            <a:br>
              <a:rPr lang="en-FI" dirty="0"/>
            </a:br>
            <a:r>
              <a:rPr lang="en-FI" i="1" dirty="0"/>
              <a:t>joint</a:t>
            </a:r>
            <a:r>
              <a:rPr lang="en-FI" dirty="0"/>
              <a:t> distribution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D9133E-C0B6-3D1D-C710-67B6F3DD8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898235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03626-F99B-D104-D1A3-89F3D55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Experimental design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6B542-4D64-D1B0-A42D-C1A2A5DEC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19015"/>
          </a:xfrm>
        </p:spPr>
        <p:txBody>
          <a:bodyPr>
            <a:normAutofit/>
          </a:bodyPr>
          <a:lstStyle/>
          <a:p>
            <a:r>
              <a:rPr lang="en-FI" dirty="0"/>
              <a:t>Online Asset Market experiment</a:t>
            </a:r>
          </a:p>
          <a:p>
            <a:pPr lvl="1"/>
            <a:r>
              <a:rPr lang="en-FI" dirty="0"/>
              <a:t>Participants trade Asset F and Asset U simultaneously</a:t>
            </a:r>
          </a:p>
          <a:p>
            <a:pPr lvl="1"/>
            <a:r>
              <a:rPr lang="en-FI" dirty="0"/>
              <a:t>Continuous double auction (</a:t>
            </a:r>
            <a:r>
              <a:rPr lang="en-FI" dirty="0" err="1"/>
              <a:t>oTree</a:t>
            </a:r>
            <a:r>
              <a:rPr lang="en-FI" dirty="0"/>
              <a:t> &lt;&gt; Flex-E-Markets)</a:t>
            </a:r>
          </a:p>
          <a:p>
            <a:pPr lvl="1"/>
            <a:r>
              <a:rPr lang="en-FI" dirty="0"/>
              <a:t>4 rounds of trading, 4 minutes per round</a:t>
            </a:r>
          </a:p>
          <a:p>
            <a:pPr marL="0" indent="0">
              <a:buNone/>
            </a:pPr>
            <a:endParaRPr lang="en-FI" dirty="0"/>
          </a:p>
          <a:p>
            <a:r>
              <a:rPr lang="en-FI" dirty="0"/>
              <a:t>60 independent groups (each trading for 4 rounds)</a:t>
            </a:r>
          </a:p>
          <a:p>
            <a:r>
              <a:rPr lang="en-FI" dirty="0"/>
              <a:t>Target: 20 traders per group (at least 12 traders per group)</a:t>
            </a:r>
          </a:p>
          <a:p>
            <a:r>
              <a:rPr lang="en-FI" dirty="0"/>
              <a:t>up to about 1,200 online participants (Prolific)</a:t>
            </a:r>
          </a:p>
          <a:p>
            <a:endParaRPr lang="en-FI" dirty="0"/>
          </a:p>
          <a:p>
            <a:r>
              <a:rPr lang="en-FI" dirty="0"/>
              <a:t>Preregistered at OSF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A6C23-8AA9-88E5-6064-C1FC30788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22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2185921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50E1A-E4D9-8B2A-B9DF-63FA0DA60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Treatments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73942-83F2-D158-5140-1DDEEE7FB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/>
          <a:lstStyle/>
          <a:p>
            <a:r>
              <a:rPr lang="en-FI" dirty="0"/>
              <a:t>3 × 2 between-within experimental treatment design</a:t>
            </a:r>
          </a:p>
          <a:p>
            <a:endParaRPr lang="en-FI" dirty="0"/>
          </a:p>
          <a:p>
            <a:r>
              <a:rPr lang="en-FI" b="1" dirty="0"/>
              <a:t>Information Environment</a:t>
            </a:r>
            <a:r>
              <a:rPr lang="en-FI" dirty="0"/>
              <a:t> varied </a:t>
            </a:r>
            <a:r>
              <a:rPr lang="en-FI" i="1" dirty="0"/>
              <a:t>between</a:t>
            </a:r>
            <a:r>
              <a:rPr lang="en-FI" dirty="0"/>
              <a:t> groups:</a:t>
            </a:r>
          </a:p>
          <a:p>
            <a:pPr lvl="1"/>
            <a:r>
              <a:rPr lang="en-FI" b="1" i="1" dirty="0"/>
              <a:t>Mix</a:t>
            </a:r>
            <a:r>
              <a:rPr lang="en-FI" i="1" dirty="0"/>
              <a:t>ed</a:t>
            </a:r>
            <a:r>
              <a:rPr lang="en-FI" dirty="0"/>
              <a:t> / </a:t>
            </a:r>
            <a:r>
              <a:rPr lang="en-FI" b="1" i="1" dirty="0"/>
              <a:t>Seq</a:t>
            </a:r>
            <a:r>
              <a:rPr lang="en-FI" i="1" dirty="0"/>
              <a:t>uential </a:t>
            </a:r>
            <a:r>
              <a:rPr lang="en-FI" dirty="0"/>
              <a:t>/ </a:t>
            </a:r>
            <a:r>
              <a:rPr lang="en-FI" b="1" i="1" dirty="0"/>
              <a:t>Sim</a:t>
            </a:r>
            <a:r>
              <a:rPr lang="en-FI" i="1" dirty="0"/>
              <a:t>ultaneous</a:t>
            </a:r>
          </a:p>
          <a:p>
            <a:pPr lvl="1"/>
            <a:endParaRPr lang="en-FI" dirty="0"/>
          </a:p>
          <a:p>
            <a:r>
              <a:rPr lang="en-FI" b="1" dirty="0"/>
              <a:t>Endowments</a:t>
            </a:r>
            <a:r>
              <a:rPr lang="en-FI" dirty="0"/>
              <a:t> for trading varied </a:t>
            </a:r>
            <a:r>
              <a:rPr lang="en-FI" i="1" dirty="0"/>
              <a:t>within</a:t>
            </a:r>
            <a:r>
              <a:rPr lang="en-FI" dirty="0"/>
              <a:t> groups: </a:t>
            </a:r>
          </a:p>
          <a:p>
            <a:pPr lvl="1"/>
            <a:r>
              <a:rPr lang="en-FI" dirty="0"/>
              <a:t>concentrated (Low Diversification (</a:t>
            </a:r>
            <a:r>
              <a:rPr lang="en-FI" b="1" i="1" dirty="0"/>
              <a:t>LD</a:t>
            </a:r>
            <a:r>
              <a:rPr lang="en-FI" dirty="0"/>
              <a:t>): 40/0 – 0/40)</a:t>
            </a:r>
          </a:p>
          <a:p>
            <a:pPr lvl="1"/>
            <a:r>
              <a:rPr lang="en-FI" dirty="0"/>
              <a:t>diversified (High Diversification (</a:t>
            </a:r>
            <a:r>
              <a:rPr lang="en-FI" b="1" i="1" dirty="0"/>
              <a:t>HD</a:t>
            </a:r>
            <a:r>
              <a:rPr lang="en-FI" dirty="0"/>
              <a:t>) 20/20)</a:t>
            </a:r>
          </a:p>
          <a:p>
            <a:pPr lvl="1"/>
            <a:endParaRPr lang="en-FI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D7E30-02DE-8397-2B50-A25BAD67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23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815480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1781A-7539-B8EB-74A6-3DA5E4C7F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Hypotheses: Trading Volume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773B1-A88B-B464-C446-888DE2249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FI" b="1" dirty="0"/>
              <a:t>Highest </a:t>
            </a:r>
            <a:r>
              <a:rPr lang="en-FI" dirty="0"/>
              <a:t>Volume —</a:t>
            </a:r>
            <a:r>
              <a:rPr lang="en-FI" b="1" dirty="0"/>
              <a:t> </a:t>
            </a:r>
            <a:r>
              <a:rPr lang="en-FI" b="1" i="1" dirty="0" err="1"/>
              <a:t>LD.Mix</a:t>
            </a:r>
            <a:r>
              <a:rPr lang="en-FI" b="1" dirty="0"/>
              <a:t>:</a:t>
            </a:r>
            <a:r>
              <a:rPr lang="en-FI" dirty="0"/>
              <a:t> </a:t>
            </a:r>
          </a:p>
          <a:p>
            <a:pPr lvl="1"/>
            <a:r>
              <a:rPr lang="en-FI" dirty="0"/>
              <a:t>traders disagree </a:t>
            </a:r>
            <a:r>
              <a:rPr lang="en-FI" i="1" dirty="0"/>
              <a:t>and</a:t>
            </a:r>
            <a:r>
              <a:rPr lang="en-FI" dirty="0"/>
              <a:t> need to rebalance</a:t>
            </a:r>
          </a:p>
          <a:p>
            <a:r>
              <a:rPr lang="en-FI" b="1" dirty="0"/>
              <a:t>Middle </a:t>
            </a:r>
            <a:r>
              <a:rPr lang="en-FI" dirty="0"/>
              <a:t>Volume —</a:t>
            </a:r>
            <a:r>
              <a:rPr lang="en-FI" b="1" dirty="0"/>
              <a:t> </a:t>
            </a:r>
            <a:r>
              <a:rPr lang="en-FI" b="1" i="1" dirty="0" err="1"/>
              <a:t>LD.Seq</a:t>
            </a:r>
            <a:r>
              <a:rPr lang="en-FI" b="1" dirty="0"/>
              <a:t>, </a:t>
            </a:r>
            <a:r>
              <a:rPr lang="en-FI" b="1" i="1" dirty="0" err="1"/>
              <a:t>LD.Sim</a:t>
            </a:r>
            <a:r>
              <a:rPr lang="en-FI" b="1" dirty="0"/>
              <a:t>, </a:t>
            </a:r>
            <a:r>
              <a:rPr lang="en-FI" b="1" i="1" dirty="0" err="1"/>
              <a:t>HD.Mix</a:t>
            </a:r>
            <a:r>
              <a:rPr lang="en-FI" b="1" dirty="0"/>
              <a:t>:</a:t>
            </a:r>
            <a:r>
              <a:rPr lang="en-FI" dirty="0"/>
              <a:t> </a:t>
            </a:r>
          </a:p>
          <a:p>
            <a:pPr lvl="1"/>
            <a:r>
              <a:rPr lang="en-FI" dirty="0"/>
              <a:t>exactly one motive each: either traders disagree </a:t>
            </a:r>
            <a:r>
              <a:rPr lang="en-FI" i="1" dirty="0"/>
              <a:t>or</a:t>
            </a:r>
            <a:r>
              <a:rPr lang="en-FI" dirty="0"/>
              <a:t> need to rebalance</a:t>
            </a:r>
          </a:p>
          <a:p>
            <a:r>
              <a:rPr lang="en-FI" b="1" dirty="0"/>
              <a:t>Lowest </a:t>
            </a:r>
            <a:r>
              <a:rPr lang="en-FI" dirty="0"/>
              <a:t>Volume —</a:t>
            </a:r>
            <a:r>
              <a:rPr lang="en-FI" b="1" dirty="0"/>
              <a:t> </a:t>
            </a:r>
            <a:r>
              <a:rPr lang="en-FI" b="1" i="1" dirty="0" err="1"/>
              <a:t>HD.Seq</a:t>
            </a:r>
            <a:r>
              <a:rPr lang="en-FI" b="1" dirty="0"/>
              <a:t>, </a:t>
            </a:r>
            <a:r>
              <a:rPr lang="en-FI" b="1" i="1" dirty="0" err="1"/>
              <a:t>HD.Sim</a:t>
            </a:r>
            <a:r>
              <a:rPr lang="en-FI" b="1" dirty="0"/>
              <a:t>:</a:t>
            </a:r>
            <a:r>
              <a:rPr lang="en-FI" dirty="0"/>
              <a:t> </a:t>
            </a:r>
          </a:p>
          <a:p>
            <a:pPr lvl="1"/>
            <a:r>
              <a:rPr lang="en-FI" dirty="0"/>
              <a:t>diversified endowments </a:t>
            </a:r>
            <a:r>
              <a:rPr lang="en-FI" i="1" dirty="0"/>
              <a:t>and</a:t>
            </a:r>
            <a:r>
              <a:rPr lang="en-FI" dirty="0"/>
              <a:t> traders agree</a:t>
            </a:r>
          </a:p>
          <a:p>
            <a:endParaRPr lang="en-FI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8BB8CE-CEC2-BAA7-5BDF-41A6465B6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24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926398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79797-6A93-7786-A491-12EE7BD1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Hypotheses: Prices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0E49AB-C7ED-1C9E-1EC3-75D5610F37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72149" cy="4351338"/>
              </a:xfrm>
            </p:spPr>
            <p:txBody>
              <a:bodyPr>
                <a:normAutofit/>
              </a:bodyPr>
              <a:lstStyle/>
              <a:p>
                <a:r>
                  <a:rPr lang="en-FI" b="1" dirty="0"/>
                  <a:t>Asset F:</a:t>
                </a:r>
                <a:r>
                  <a:rPr lang="en-FI" dirty="0"/>
                  <a:t> lowest </a:t>
                </a:r>
                <a:r>
                  <a:rPr lang="en-FI" b="1" i="1" dirty="0"/>
                  <a:t>Sim</a:t>
                </a:r>
                <a:r>
                  <a:rPr lang="en-FI" dirty="0"/>
                  <a:t> &lt; higher </a:t>
                </a:r>
                <a:r>
                  <a:rPr lang="en-FI" b="1" i="1" dirty="0"/>
                  <a:t>Mix </a:t>
                </a:r>
                <a:r>
                  <a:rPr lang="en-FI" dirty="0"/>
                  <a:t>&lt; highest </a:t>
                </a:r>
                <a:r>
                  <a:rPr lang="en-FI" b="1" i="1" dirty="0"/>
                  <a:t>Seq</a:t>
                </a:r>
                <a:r>
                  <a:rPr lang="en-FI" dirty="0"/>
                  <a:t> </a:t>
                </a:r>
                <a:endParaRPr lang="en-FI" b="1" dirty="0"/>
              </a:p>
              <a:p>
                <a:r>
                  <a:rPr lang="en-FI" b="1" dirty="0"/>
                  <a:t>Asset U:</a:t>
                </a:r>
                <a:r>
                  <a:rPr lang="en-FI" dirty="0"/>
                  <a:t> highest </a:t>
                </a:r>
                <a:r>
                  <a:rPr lang="en-FI" b="1" i="1" dirty="0"/>
                  <a:t>Sim</a:t>
                </a:r>
                <a:r>
                  <a:rPr lang="en-FI" dirty="0"/>
                  <a:t> &gt; lower </a:t>
                </a:r>
                <a:r>
                  <a:rPr lang="en-FI" b="1" i="1" dirty="0"/>
                  <a:t>Mix </a:t>
                </a:r>
                <a:r>
                  <a:rPr lang="en-FI" dirty="0"/>
                  <a:t>&gt; lowest </a:t>
                </a:r>
                <a:r>
                  <a:rPr lang="en-FI" b="1" i="1" dirty="0"/>
                  <a:t>Seq</a:t>
                </a:r>
              </a:p>
              <a:p>
                <a:endParaRPr lang="en-FI" dirty="0"/>
              </a:p>
              <a:p>
                <a:r>
                  <a:rPr lang="en-FI" dirty="0"/>
                  <a:t>Homogeneous market (Sim or Seq) </a:t>
                </a:r>
                <a:br>
                  <a:rPr lang="en-FI" dirty="0"/>
                </a:br>
                <a14:m>
                  <m:oMath xmlns:m="http://schemas.openxmlformats.org/officeDocument/2006/math">
                    <m:r>
                      <a:rPr lang="en-FI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FI" dirty="0"/>
                  <a:t> bias fully integrated, no one trades against it</a:t>
                </a:r>
              </a:p>
              <a:p>
                <a:r>
                  <a:rPr lang="en-FI" dirty="0"/>
                  <a:t>Mixed market (Mix)</a:t>
                </a:r>
                <a:br>
                  <a:rPr lang="en-FI" dirty="0"/>
                </a:br>
                <a14:m>
                  <m:oMath xmlns:m="http://schemas.openxmlformats.org/officeDocument/2006/math">
                    <m:r>
                      <a:rPr lang="en-FI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FI" dirty="0"/>
                  <a:t> opposing errors might partially cancel out, </a:t>
                </a:r>
                <a:br>
                  <a:rPr lang="en-FI" b="1" dirty="0"/>
                </a:br>
                <a:r>
                  <a:rPr lang="en-FI" dirty="0"/>
                  <a:t>aggregation toward fundamentals </a:t>
                </a:r>
                <a:r>
                  <a:rPr lang="en-FI" i="1" dirty="0"/>
                  <a:t>without a single rational trader</a:t>
                </a:r>
              </a:p>
              <a:p>
                <a:pPr marL="0" indent="0">
                  <a:buNone/>
                </a:pPr>
                <a:endParaRPr lang="en-FI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0E49AB-C7ED-1C9E-1EC3-75D5610F37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72149" cy="4351338"/>
              </a:xfrm>
              <a:blipFill>
                <a:blip r:embed="rId3"/>
                <a:stretch>
                  <a:fillRect l="-936" t="-2381"/>
                </a:stretch>
              </a:blipFill>
            </p:spPr>
            <p:txBody>
              <a:bodyPr/>
              <a:lstStyle/>
              <a:p>
                <a:r>
                  <a:rPr lang="en-FI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5D6F2C-33DC-FF26-3FEB-30E55A1B1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25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22467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DA6E-52AC-9EB1-8337-737FDB984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Experimental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F2E97-9B11-FCD2-1960-6D5D05EF4B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03680"/>
                <a:ext cx="10693400" cy="4673283"/>
              </a:xfrm>
            </p:spPr>
            <p:txBody>
              <a:bodyPr/>
              <a:lstStyle/>
              <a:p>
                <a:r>
                  <a:rPr lang="en-FI" dirty="0"/>
                  <a:t>Online Asset Market experiment</a:t>
                </a:r>
              </a:p>
              <a:p>
                <a:pPr lvl="1"/>
                <a:r>
                  <a:rPr lang="en-FI" dirty="0"/>
                  <a:t>Continuous double auction with two assets (</a:t>
                </a:r>
                <a:r>
                  <a:rPr lang="en-FI" dirty="0" err="1"/>
                  <a:t>oTree</a:t>
                </a:r>
                <a:r>
                  <a:rPr lang="en-FI" dirty="0"/>
                  <a:t> &lt;&gt; Flex-E-Markets)</a:t>
                </a:r>
              </a:p>
              <a:p>
                <a:r>
                  <a:rPr lang="en-FI" dirty="0"/>
                  <a:t>Target: 20 traders per group (at least 12 traders per group)</a:t>
                </a:r>
              </a:p>
              <a:p>
                <a:r>
                  <a:rPr lang="en-FI" dirty="0"/>
                  <a:t>up to about 1,200 online participants (Prolific)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FI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→</m:t>
                    </m:r>
                  </m:oMath>
                </a14:m>
                <a:r>
                  <a:rPr lang="en-FI" dirty="0">
                    <a:sym typeface="Wingdings" panose="05000000000000000000" pitchFamily="2" charset="2"/>
                  </a:rPr>
                  <a:t> a challenge!</a:t>
                </a:r>
              </a:p>
              <a:p>
                <a:pPr marL="0" indent="0">
                  <a:buNone/>
                </a:pPr>
                <a:endParaRPr lang="en-FI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en-FI" dirty="0">
                    <a:sym typeface="Wingdings" panose="05000000000000000000" pitchFamily="2" charset="2"/>
                  </a:rPr>
                  <a:t>How to only get “active” participants into the markets?</a:t>
                </a:r>
              </a:p>
              <a:p>
                <a:pPr marL="0" indent="0">
                  <a:buNone/>
                </a:pPr>
                <a:r>
                  <a:rPr lang="en-FI" dirty="0">
                    <a:sym typeface="Wingdings" panose="05000000000000000000" pitchFamily="2" charset="2"/>
                  </a:rPr>
                  <a:t>How to make sure they don’t have to wait too long for others?</a:t>
                </a:r>
                <a:endParaRPr lang="en-FI" dirty="0"/>
              </a:p>
              <a:p>
                <a:pPr marL="0" indent="0">
                  <a:buNone/>
                </a:pPr>
                <a:r>
                  <a:rPr lang="en-FI" dirty="0"/>
                  <a:t>... 50-60 min online experiment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F2E97-9B11-FCD2-1960-6D5D05EF4B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03680"/>
                <a:ext cx="10693400" cy="4673283"/>
              </a:xfrm>
              <a:blipFill>
                <a:blip r:embed="rId2"/>
                <a:stretch>
                  <a:fillRect l="-1197" t="-2350"/>
                </a:stretch>
              </a:blipFill>
            </p:spPr>
            <p:txBody>
              <a:bodyPr/>
              <a:lstStyle/>
              <a:p>
                <a:r>
                  <a:rPr lang="en-FI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06FF71-E822-F0B1-4502-D5884B31F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26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0579523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CEAB5-F8DB-142A-246B-77B44E24C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Experimental implementation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2D92-CFFE-5E6E-E89A-DBAD597B3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27</a:t>
            </a:fld>
            <a:endParaRPr lang="en-FI"/>
          </a:p>
        </p:txBody>
      </p:sp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2A103A14-FE71-1745-A67E-C284DFD62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6974" y="1405594"/>
            <a:ext cx="570187" cy="570187"/>
          </a:xfrm>
          <a:prstGeom prst="rect">
            <a:avLst/>
          </a:prstGeom>
        </p:spPr>
      </p:pic>
      <p:pic>
        <p:nvPicPr>
          <p:cNvPr id="9" name="Graphic 8" descr="Woman with solid fill">
            <a:extLst>
              <a:ext uri="{FF2B5EF4-FFF2-40B4-BE49-F238E27FC236}">
                <a16:creationId xmlns:a16="http://schemas.microsoft.com/office/drawing/2014/main" id="{D2479C54-CC2B-A875-02BB-14C1D421F5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8737" y="1975781"/>
            <a:ext cx="570187" cy="570187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5983BFB4-7064-BE67-9C51-DD42F9F430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78319" y="3229651"/>
            <a:ext cx="570187" cy="570187"/>
          </a:xfrm>
          <a:prstGeom prst="rect">
            <a:avLst/>
          </a:prstGeom>
        </p:spPr>
      </p:pic>
      <p:pic>
        <p:nvPicPr>
          <p:cNvPr id="11" name="Graphic 10" descr="Woman with solid fill">
            <a:extLst>
              <a:ext uri="{FF2B5EF4-FFF2-40B4-BE49-F238E27FC236}">
                <a16:creationId xmlns:a16="http://schemas.microsoft.com/office/drawing/2014/main" id="{C8E778EC-ACC7-DA4C-C51E-3F34E856C1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8679" y="3229652"/>
            <a:ext cx="570187" cy="570187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A5320A43-3F9E-9756-0026-8AD65DA043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43496" y="3229651"/>
            <a:ext cx="570187" cy="570187"/>
          </a:xfrm>
          <a:prstGeom prst="rect">
            <a:avLst/>
          </a:prstGeom>
        </p:spPr>
      </p:pic>
      <p:pic>
        <p:nvPicPr>
          <p:cNvPr id="13" name="Graphic 12" descr="Woman with solid fill">
            <a:extLst>
              <a:ext uri="{FF2B5EF4-FFF2-40B4-BE49-F238E27FC236}">
                <a16:creationId xmlns:a16="http://schemas.microsoft.com/office/drawing/2014/main" id="{8DB4D60D-40DB-D9C2-B290-A6D833D7DF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3856" y="3229652"/>
            <a:ext cx="570187" cy="570187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95122809-9726-C221-9E78-45541CD88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8737" y="3229651"/>
            <a:ext cx="570187" cy="570187"/>
          </a:xfrm>
          <a:prstGeom prst="rect">
            <a:avLst/>
          </a:prstGeom>
        </p:spPr>
      </p:pic>
      <p:pic>
        <p:nvPicPr>
          <p:cNvPr id="15" name="Graphic 14" descr="Woman with solid fill">
            <a:extLst>
              <a:ext uri="{FF2B5EF4-FFF2-40B4-BE49-F238E27FC236}">
                <a16:creationId xmlns:a16="http://schemas.microsoft.com/office/drawing/2014/main" id="{58396E35-06F9-CDA0-0906-ABB0291D73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09097" y="3229652"/>
            <a:ext cx="570187" cy="570187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607E199F-3FBE-FD4D-E5BF-343DE55C8C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16615" y="3229650"/>
            <a:ext cx="570187" cy="570187"/>
          </a:xfrm>
          <a:prstGeom prst="rect">
            <a:avLst/>
          </a:prstGeom>
        </p:spPr>
      </p:pic>
      <p:pic>
        <p:nvPicPr>
          <p:cNvPr id="17" name="Graphic 16" descr="Woman with solid fill">
            <a:extLst>
              <a:ext uri="{FF2B5EF4-FFF2-40B4-BE49-F238E27FC236}">
                <a16:creationId xmlns:a16="http://schemas.microsoft.com/office/drawing/2014/main" id="{A2354831-E9B3-C35C-90D0-00C586AF82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6975" y="3229651"/>
            <a:ext cx="570187" cy="570187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0EBE51A9-9B55-39E5-EC4B-B8AEF1924290}"/>
              </a:ext>
            </a:extLst>
          </p:cNvPr>
          <p:cNvGrpSpPr/>
          <p:nvPr/>
        </p:nvGrpSpPr>
        <p:grpSpPr>
          <a:xfrm>
            <a:off x="9520094" y="3429000"/>
            <a:ext cx="914400" cy="914400"/>
            <a:chOff x="9668436" y="4165606"/>
            <a:chExt cx="914400" cy="9144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DDE78C9-9B12-09CF-A32A-AE8056D92DB1}"/>
                </a:ext>
              </a:extLst>
            </p:cNvPr>
            <p:cNvSpPr/>
            <p:nvPr/>
          </p:nvSpPr>
          <p:spPr>
            <a:xfrm>
              <a:off x="9668436" y="4165606"/>
              <a:ext cx="914400" cy="914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FI"/>
            </a:p>
          </p:txBody>
        </p:sp>
        <p:pic>
          <p:nvPicPr>
            <p:cNvPr id="19" name="Graphic 18" descr="Group with solid fill">
              <a:extLst>
                <a:ext uri="{FF2B5EF4-FFF2-40B4-BE49-F238E27FC236}">
                  <a16:creationId xmlns:a16="http://schemas.microsoft.com/office/drawing/2014/main" id="{668F779B-8EF3-86C0-F896-9982BCA2E8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668436" y="4165606"/>
              <a:ext cx="914400" cy="914400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41AC2662-8867-ACBD-ACFE-3655C9846E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756" y="3848735"/>
            <a:ext cx="9220200" cy="287274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B30B19-A044-C460-0FA6-C5D3AA8D71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73795"/>
                <a:ext cx="11640672" cy="5161616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AutoNum type="arabicPeriod"/>
                </a:pPr>
                <a:r>
                  <a:rPr lang="en-FI" dirty="0"/>
                  <a:t>General Instructions + Attention Checks</a:t>
                </a:r>
              </a:p>
              <a:p>
                <a:pPr marL="514350" indent="-514350">
                  <a:buAutoNum type="arabicPeriod"/>
                </a:pPr>
                <a:r>
                  <a:rPr lang="en-FI" dirty="0"/>
                  <a:t>Market Instructions + Practice Round</a:t>
                </a:r>
              </a:p>
              <a:p>
                <a:pPr marL="514350" indent="-514350">
                  <a:buAutoNum type="arabicPeriod"/>
                </a:pPr>
                <a:endParaRPr lang="en-FI" sz="1200" dirty="0"/>
              </a:p>
              <a:p>
                <a:pPr marL="514350" indent="-514350">
                  <a:buAutoNum type="arabicPeriod"/>
                </a:pPr>
                <a:r>
                  <a:rPr lang="en-FI" dirty="0"/>
                  <a:t>Survey  with 7 pages </a:t>
                </a:r>
                <a14:m>
                  <m:oMath xmlns:m="http://schemas.openxmlformats.org/officeDocument/2006/math">
                    <m:r>
                      <a:rPr lang="en-FI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FI" dirty="0"/>
                  <a:t> 10:00 minute timer for each participant</a:t>
                </a:r>
              </a:p>
              <a:p>
                <a:pPr marL="457200" lvl="1" indent="0">
                  <a:buNone/>
                </a:pPr>
                <a:endParaRPr lang="en-FI" dirty="0"/>
              </a:p>
              <a:p>
                <a:pPr marL="355600" lvl="1"/>
                <a:endParaRPr lang="en-FI" dirty="0"/>
              </a:p>
              <a:p>
                <a:pPr marL="355600" lvl="1"/>
                <a:r>
                  <a:rPr lang="en-FI" dirty="0"/>
                  <a:t>If 20 participants arrived at the Survey </a:t>
                </a:r>
                <a14:m>
                  <m:oMath xmlns:m="http://schemas.openxmlformats.org/officeDocument/2006/math">
                    <m:r>
                      <a:rPr lang="en-FI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FI" dirty="0"/>
                  <a:t> group of 20 is formed</a:t>
                </a:r>
              </a:p>
              <a:p>
                <a:pPr marL="355600" lvl="1"/>
                <a:r>
                  <a:rPr lang="en-FI" dirty="0"/>
                  <a:t>If timer runs out and 11-18 others are at the Survey </a:t>
                </a:r>
                <a14:m>
                  <m:oMath xmlns:m="http://schemas.openxmlformats.org/officeDocument/2006/math">
                    <m:r>
                      <a:rPr lang="en-FI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FI" dirty="0"/>
                  <a:t> group of 12-19</a:t>
                </a:r>
              </a:p>
              <a:p>
                <a:pPr marL="355600" lvl="1"/>
                <a:r>
                  <a:rPr lang="en-FI" dirty="0"/>
                  <a:t>If timer runs out and &lt; 11 others are at the Survey </a:t>
                </a:r>
                <a14:m>
                  <m:oMath xmlns:m="http://schemas.openxmlformats.org/officeDocument/2006/math">
                    <m:r>
                      <a:rPr lang="en-FI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FI" dirty="0"/>
                  <a:t> no group, payment</a:t>
                </a:r>
              </a:p>
              <a:p>
                <a:pPr marL="355600" lvl="1"/>
                <a:endParaRPr lang="en-FI" sz="1050" dirty="0"/>
              </a:p>
              <a:p>
                <a:pPr marL="184150" indent="-514350">
                  <a:buFont typeface="+mj-lt"/>
                  <a:buAutoNum type="arabicPeriod"/>
                </a:pPr>
                <a:r>
                  <a:rPr lang="en-FI" dirty="0"/>
                  <a:t>Market instructions + Market trading</a:t>
                </a:r>
              </a:p>
              <a:p>
                <a:pPr marL="184150" indent="-514350">
                  <a:buFont typeface="+mj-lt"/>
                  <a:buAutoNum type="arabicPeriod"/>
                </a:pPr>
                <a:r>
                  <a:rPr lang="en-FI" dirty="0"/>
                  <a:t>After 4 rounds of trading, Survey continues where they left off</a:t>
                </a:r>
              </a:p>
              <a:p>
                <a:pPr marL="355600" lvl="1"/>
                <a:endParaRPr lang="en-FI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B30B19-A044-C460-0FA6-C5D3AA8D71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73795"/>
                <a:ext cx="11640672" cy="5161616"/>
              </a:xfrm>
              <a:blipFill>
                <a:blip r:embed="rId7"/>
                <a:stretch>
                  <a:fillRect l="-1047" t="-2128"/>
                </a:stretch>
              </a:blipFill>
            </p:spPr>
            <p:txBody>
              <a:bodyPr/>
              <a:lstStyle/>
              <a:p>
                <a:r>
                  <a:rPr lang="en-FI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4517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CF3FB-5AED-F084-2518-4A2504811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D0FE-ADDC-A210-2F8A-9517988C7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Experimental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7BF74-CC94-3D3B-1999-A2FA839D3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3680"/>
            <a:ext cx="10515600" cy="4673283"/>
          </a:xfrm>
        </p:spPr>
        <p:txBody>
          <a:bodyPr/>
          <a:lstStyle/>
          <a:p>
            <a:r>
              <a:rPr lang="en-FI" dirty="0" err="1"/>
              <a:t>oTree</a:t>
            </a:r>
            <a:r>
              <a:rPr lang="en-FI" dirty="0"/>
              <a:t> &lt;&gt; Flex-E-Markets</a:t>
            </a:r>
          </a:p>
          <a:p>
            <a:endParaRPr lang="en-FI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7142CE-4340-5E12-050E-407C07066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93" y="2113695"/>
            <a:ext cx="11097814" cy="610723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03ECF7-8F87-BF5F-FAFD-EFF1B3364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28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749953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D1FC-2666-3067-B9B0-C908C76EA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Some first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B711A-3042-1074-B480-49B77AA44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FI" dirty="0"/>
              <a:t>Implementation with Prolific, </a:t>
            </a:r>
            <a:r>
              <a:rPr lang="en-FI" dirty="0" err="1"/>
              <a:t>oTree</a:t>
            </a:r>
            <a:r>
              <a:rPr lang="en-FI" dirty="0"/>
              <a:t>, Flex-E-Markets and </a:t>
            </a:r>
            <a:br>
              <a:rPr lang="en-FI" dirty="0"/>
            </a:br>
            <a:r>
              <a:rPr lang="en-FI" u="sng" dirty="0"/>
              <a:t>20 participants per group</a:t>
            </a:r>
            <a:r>
              <a:rPr lang="en-FI" dirty="0"/>
              <a:t> in a </a:t>
            </a:r>
            <a:r>
              <a:rPr lang="en-FI" u="sng" dirty="0"/>
              <a:t>50min experiment</a:t>
            </a:r>
            <a:r>
              <a:rPr lang="en-FI" dirty="0"/>
              <a:t> is a </a:t>
            </a:r>
            <a:br>
              <a:rPr lang="en-FI" dirty="0"/>
            </a:br>
            <a:r>
              <a:rPr lang="en-FI" dirty="0"/>
              <a:t>massive challenge</a:t>
            </a:r>
          </a:p>
          <a:p>
            <a:endParaRPr lang="en-FI" dirty="0"/>
          </a:p>
          <a:p>
            <a:r>
              <a:rPr lang="en-FI" dirty="0"/>
              <a:t>So far only some first data from 2 groups with 4 rounds each </a:t>
            </a:r>
            <a:br>
              <a:rPr lang="en-FI" dirty="0"/>
            </a:br>
            <a:br>
              <a:rPr lang="en-FI" dirty="0"/>
            </a:br>
            <a:r>
              <a:rPr lang="en-FI" dirty="0"/>
              <a:t>(We will scale this up to 60 groups very soon!)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C7521-EAB6-1A82-6D10-4520D7A89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29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46384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8CFE-8A58-E5CA-9D16-2E30C55B6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Some first data – Markets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B80DD-62B0-7CC4-E3FE-39601168C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30</a:t>
            </a:fld>
            <a:endParaRPr lang="en-FI"/>
          </a:p>
        </p:txBody>
      </p:sp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299D3779-0EF2-8FEC-466D-BDEECB405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400" y="1999249"/>
            <a:ext cx="2880000" cy="180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C34017B-05FF-AA5F-1F2A-0D4A7E98B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48800" y="1999249"/>
            <a:ext cx="2880000" cy="179999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6CF9786-D65B-9218-99A7-AE417B0FF1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63200" y="1999249"/>
            <a:ext cx="2880000" cy="179999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E8A94D7-F510-E242-CF67-F72CE7D6F9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77600" y="1999249"/>
            <a:ext cx="2880000" cy="1799999"/>
          </a:xfrm>
          <a:prstGeom prst="rect">
            <a:avLst/>
          </a:prstGeom>
        </p:spPr>
      </p:pic>
      <p:pic>
        <p:nvPicPr>
          <p:cNvPr id="47" name="Content Placeholder 28">
            <a:extLst>
              <a:ext uri="{FF2B5EF4-FFF2-40B4-BE49-F238E27FC236}">
                <a16:creationId xmlns:a16="http://schemas.microsoft.com/office/drawing/2014/main" id="{85464913-E5ED-7BC0-BAD6-20D110CC7AE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400" y="4508012"/>
            <a:ext cx="2880000" cy="1799999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850BC76B-9C86-EF53-3779-F740B56410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48800" y="4508012"/>
            <a:ext cx="2880000" cy="1799999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AC84DD7-C930-C98E-BFF1-6E85F89AAED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63200" y="4508012"/>
            <a:ext cx="2880000" cy="1799999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0C1F7285-FDD6-F1CC-DC0C-774BB4E2CE4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77600" y="4508012"/>
            <a:ext cx="2880000" cy="1799999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21887B7F-8F1B-6B60-F8BF-EDE2B1AA3E7F}"/>
              </a:ext>
            </a:extLst>
          </p:cNvPr>
          <p:cNvSpPr txBox="1"/>
          <p:nvPr/>
        </p:nvSpPr>
        <p:spPr>
          <a:xfrm>
            <a:off x="273205" y="1537584"/>
            <a:ext cx="2151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400" dirty="0"/>
              <a:t>G1/R1:</a:t>
            </a:r>
            <a:r>
              <a:rPr lang="en-FI" sz="2400" b="1" dirty="0"/>
              <a:t> </a:t>
            </a:r>
            <a:r>
              <a:rPr lang="en-FI" sz="2400" b="1" dirty="0" err="1"/>
              <a:t>LD.Mix</a:t>
            </a:r>
            <a:endParaRPr lang="en-FI" sz="24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C7AF6B-804D-064E-1521-3E552A70A466}"/>
              </a:ext>
            </a:extLst>
          </p:cNvPr>
          <p:cNvSpPr txBox="1"/>
          <p:nvPr/>
        </p:nvSpPr>
        <p:spPr>
          <a:xfrm>
            <a:off x="3322208" y="1537583"/>
            <a:ext cx="21863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400" dirty="0"/>
              <a:t>G1/R2: </a:t>
            </a:r>
            <a:r>
              <a:rPr lang="en-FI" sz="2400" b="1" dirty="0" err="1"/>
              <a:t>HD.Mix</a:t>
            </a:r>
            <a:endParaRPr lang="en-FI" sz="24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F33166C-7397-0A52-B14B-26D17DFE5615}"/>
              </a:ext>
            </a:extLst>
          </p:cNvPr>
          <p:cNvSpPr txBox="1"/>
          <p:nvPr/>
        </p:nvSpPr>
        <p:spPr>
          <a:xfrm>
            <a:off x="6283567" y="1537582"/>
            <a:ext cx="2151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400" dirty="0"/>
              <a:t>G1/R3:</a:t>
            </a:r>
            <a:r>
              <a:rPr lang="en-FI" sz="2400" b="1" dirty="0"/>
              <a:t> </a:t>
            </a:r>
            <a:r>
              <a:rPr lang="en-FI" sz="2400" b="1" dirty="0" err="1"/>
              <a:t>LD.Mix</a:t>
            </a:r>
            <a:endParaRPr lang="en-FI" sz="24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688C5E8-7141-AD43-ADC8-150A8CD651BF}"/>
              </a:ext>
            </a:extLst>
          </p:cNvPr>
          <p:cNvSpPr txBox="1"/>
          <p:nvPr/>
        </p:nvSpPr>
        <p:spPr>
          <a:xfrm>
            <a:off x="9326564" y="1537581"/>
            <a:ext cx="2218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400" dirty="0"/>
              <a:t>G1/R4:</a:t>
            </a:r>
            <a:r>
              <a:rPr lang="en-FI" sz="2400" b="1" dirty="0"/>
              <a:t> </a:t>
            </a:r>
            <a:r>
              <a:rPr lang="en-FI" sz="2400" b="1" dirty="0" err="1"/>
              <a:t>HD.Mix</a:t>
            </a:r>
            <a:endParaRPr lang="en-FI" sz="2400" b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E078EBC-FABF-06D1-E7F8-1B67DBB141E9}"/>
              </a:ext>
            </a:extLst>
          </p:cNvPr>
          <p:cNvSpPr txBox="1"/>
          <p:nvPr/>
        </p:nvSpPr>
        <p:spPr>
          <a:xfrm>
            <a:off x="273205" y="4046347"/>
            <a:ext cx="21702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400" dirty="0"/>
              <a:t>G2/R1: </a:t>
            </a:r>
            <a:r>
              <a:rPr lang="en-FI" sz="2400" b="1" dirty="0" err="1"/>
              <a:t>LD.Sim</a:t>
            </a:r>
            <a:endParaRPr lang="en-FI" sz="2400" b="1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DA6FE48-9C06-F54B-CB90-77CF1AACCCA6}"/>
              </a:ext>
            </a:extLst>
          </p:cNvPr>
          <p:cNvSpPr txBox="1"/>
          <p:nvPr/>
        </p:nvSpPr>
        <p:spPr>
          <a:xfrm>
            <a:off x="3322208" y="4046346"/>
            <a:ext cx="2237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400" dirty="0"/>
              <a:t>G2/R2: </a:t>
            </a:r>
            <a:r>
              <a:rPr lang="en-FI" sz="2400" b="1" dirty="0" err="1"/>
              <a:t>HD.Sim</a:t>
            </a:r>
            <a:endParaRPr lang="en-FI" sz="24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8C11814-50AC-03AB-A988-380DCE614EFA}"/>
              </a:ext>
            </a:extLst>
          </p:cNvPr>
          <p:cNvSpPr txBox="1"/>
          <p:nvPr/>
        </p:nvSpPr>
        <p:spPr>
          <a:xfrm>
            <a:off x="6283567" y="4046345"/>
            <a:ext cx="223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400" dirty="0"/>
              <a:t>G2/R3: </a:t>
            </a:r>
            <a:r>
              <a:rPr lang="en-FI" sz="2400" b="1" dirty="0" err="1"/>
              <a:t>LD.Sim</a:t>
            </a:r>
            <a:endParaRPr lang="en-FI" sz="2400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E6DD97D-62A1-8861-5A10-CC5C3F336CE9}"/>
              </a:ext>
            </a:extLst>
          </p:cNvPr>
          <p:cNvSpPr txBox="1"/>
          <p:nvPr/>
        </p:nvSpPr>
        <p:spPr>
          <a:xfrm>
            <a:off x="9326564" y="4046344"/>
            <a:ext cx="226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400" dirty="0"/>
              <a:t>G2/R4:</a:t>
            </a:r>
            <a:r>
              <a:rPr lang="en-FI" sz="2400" b="1" dirty="0"/>
              <a:t> </a:t>
            </a:r>
            <a:r>
              <a:rPr lang="en-FI" sz="2400" b="1" dirty="0" err="1"/>
              <a:t>HD.Sim</a:t>
            </a:r>
            <a:endParaRPr lang="en-FI" sz="2400" b="1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F2B5963A-2547-2A02-B64F-1862DEC8DF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971" t="5890" r="34442" b="86673"/>
          <a:stretch>
            <a:fillRect/>
          </a:stretch>
        </p:blipFill>
        <p:spPr>
          <a:xfrm>
            <a:off x="7155208" y="365122"/>
            <a:ext cx="5036792" cy="992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983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55E4E-6064-B9E8-E7CB-9DC2F40AA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33855-FC22-EF49-609F-2F33ECC63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Some first data – Prices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8AB5E2E-9677-3688-CBBB-1EC1CF0F07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3181" y="1290508"/>
            <a:ext cx="8745638" cy="546602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DAFC6-12A9-E6BD-2692-9E48F904B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31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028938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7AD56-69D2-CA78-70FB-EB96C5C3F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45116-13F2-4BB8-5EFE-45B92F31C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Some first data – Beliefs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EF1C881-54AE-EFAD-0108-33F79D90C8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3181" y="1290508"/>
            <a:ext cx="8745638" cy="546602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44820-30FB-B3C5-8DD3-316167169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32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3846474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C050C-69F8-35CA-8DC6-B1C58D595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D2934-EBEB-0ECC-B628-B1D080B39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Some first data – Trading volume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FC0157E-6EEF-B19A-8BB3-DBE6F6D290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1384" y="1475581"/>
            <a:ext cx="7809231" cy="488076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D2E81-1211-C478-0267-1341A2D1E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33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7708534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01FCC-B839-0E41-B675-D47B7E8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Wrap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2D65D-EA9A-41D5-A06E-7A3634B6B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142334"/>
          </a:xfrm>
        </p:spPr>
        <p:txBody>
          <a:bodyPr>
            <a:normAutofit lnSpcReduction="10000"/>
          </a:bodyPr>
          <a:lstStyle/>
          <a:p>
            <a:r>
              <a:rPr lang="en-FI" dirty="0"/>
              <a:t>First </a:t>
            </a:r>
            <a:r>
              <a:rPr lang="en-FI" i="1" dirty="0"/>
              <a:t>market</a:t>
            </a:r>
            <a:r>
              <a:rPr lang="en-FI" dirty="0"/>
              <a:t> test of belief heterogeneity induced by information environments</a:t>
            </a:r>
            <a:endParaRPr lang="en-FI" i="1" dirty="0"/>
          </a:p>
          <a:p>
            <a:r>
              <a:rPr lang="en-FI" dirty="0"/>
              <a:t>Different information environments pull biases in opposite directions</a:t>
            </a:r>
          </a:p>
          <a:p>
            <a:r>
              <a:rPr lang="en-FI" dirty="0"/>
              <a:t>In markets, these biased beliefs are reflected in the same order book — discussed since Miller (1977) / Harrison–Kreps (1978)</a:t>
            </a:r>
          </a:p>
          <a:p>
            <a:r>
              <a:rPr lang="en-FI" dirty="0"/>
              <a:t>Full data soon</a:t>
            </a:r>
          </a:p>
          <a:p>
            <a:endParaRPr lang="en-FI" dirty="0"/>
          </a:p>
          <a:p>
            <a:pPr marL="0" indent="0" algn="ctr">
              <a:buNone/>
            </a:pPr>
            <a:r>
              <a:rPr lang="en-FI" b="1" dirty="0"/>
              <a:t>Thank you</a:t>
            </a:r>
            <a:br>
              <a:rPr lang="en-FI" b="1" dirty="0"/>
            </a:br>
            <a:br>
              <a:rPr lang="en-FI" b="1" dirty="0"/>
            </a:br>
            <a:r>
              <a:rPr lang="en-FI" dirty="0"/>
              <a:t>chr-huber.com</a:t>
            </a:r>
            <a:endParaRPr lang="en-FI" b="1" dirty="0"/>
          </a:p>
          <a:p>
            <a:pPr marL="0" indent="0" algn="ctr">
              <a:buNone/>
            </a:pPr>
            <a:r>
              <a:rPr lang="en-FI" dirty="0"/>
              <a:t>christoph.huber@aalto.fi</a:t>
            </a:r>
          </a:p>
          <a:p>
            <a:endParaRPr lang="en-FI" dirty="0"/>
          </a:p>
          <a:p>
            <a:endParaRPr lang="en-FI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0BEEB-F125-3D26-19E5-BCF01AB6B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34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8687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F5DCA-FB47-4BE1-1CF7-E621899E5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5FD91-F874-1FA1-5F70-CDF2E8395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FI" b="1" dirty="0"/>
              <a:t>Prices</a:t>
            </a:r>
            <a:r>
              <a:rPr lang="en-FI" dirty="0"/>
              <a:t> — final-minute transactions (≥20 trades; else last 20) → informationally mature</a:t>
            </a:r>
          </a:p>
          <a:p>
            <a:r>
              <a:rPr lang="en-FI" b="1" dirty="0"/>
              <a:t>Volume</a:t>
            </a:r>
            <a:r>
              <a:rPr lang="en-FI" dirty="0"/>
              <a:t> — total shares per round</a:t>
            </a:r>
          </a:p>
          <a:p>
            <a:r>
              <a:rPr lang="en-FI" b="1" dirty="0"/>
              <a:t>Secondary</a:t>
            </a:r>
            <a:r>
              <a:rPr lang="en-FI" dirty="0"/>
              <a:t> — limit vs. market orders, final holdings, volatility, payoff scale (max 2 vs. 5)</a:t>
            </a:r>
          </a:p>
          <a:p>
            <a:r>
              <a:rPr lang="en-FI" b="1" dirty="0"/>
              <a:t>Moderators</a:t>
            </a:r>
            <a:r>
              <a:rPr lang="en-FI" dirty="0"/>
              <a:t> — financial literacy, experience, overconfidence, intuition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A4D609-EFB4-3604-2EF0-64C2F079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35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2790214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51B23-7997-3D91-55C6-252F4A96E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Information environments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9D0CB-35E3-59D8-4B86-0877A322EC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FI" dirty="0"/>
              <a:t>between-subjects </a:t>
            </a:r>
          </a:p>
          <a:p>
            <a:endParaRPr lang="en-FI" dirty="0"/>
          </a:p>
          <a:p>
            <a:r>
              <a:rPr lang="en-FI" b="1" dirty="0"/>
              <a:t>IE1 — Mixed:</a:t>
            </a:r>
            <a:r>
              <a:rPr lang="en-FI" dirty="0"/>
              <a:t> half sequential, half simultaneous → heterogeneity in one market </a:t>
            </a:r>
            <a:r>
              <a:rPr lang="en-FI" i="1" dirty="0"/>
              <a:t>(the realistic one)</a:t>
            </a:r>
          </a:p>
          <a:p>
            <a:r>
              <a:rPr lang="en-FI" b="1" dirty="0"/>
              <a:t>IE2 — Sequential:</a:t>
            </a:r>
            <a:r>
              <a:rPr lang="en-FI" dirty="0"/>
              <a:t> everyone forgets the blowout → market-wide tilt to </a:t>
            </a:r>
            <a:r>
              <a:rPr lang="en-FI" b="1" dirty="0"/>
              <a:t>F</a:t>
            </a:r>
          </a:p>
          <a:p>
            <a:r>
              <a:rPr lang="en-FI" b="1" dirty="0"/>
              <a:t>IE3 — Simultaneous:</a:t>
            </a:r>
            <a:r>
              <a:rPr lang="en-FI" dirty="0"/>
              <a:t> everyone fixates on the blowout → market-wide tilt to </a:t>
            </a:r>
            <a:r>
              <a:rPr lang="en-FI" b="1" dirty="0"/>
              <a:t>U</a:t>
            </a:r>
          </a:p>
          <a:p>
            <a:endParaRPr lang="en-FI" b="1" dirty="0"/>
          </a:p>
          <a:p>
            <a:r>
              <a:rPr lang="en-FI" dirty="0"/>
              <a:t>→ IE1 is the novel cell: structurally opposing biases sharing one order book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454CD2-7828-D4EB-DD8E-FCFB9E5D9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36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10893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C8ED3-417B-824E-6A15-744DAD25F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FI" dirty="0"/>
              <a:t>Endowments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A63F2-1B94-8FE0-5530-228B1F712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FI" dirty="0"/>
              <a:t>within-subjects</a:t>
            </a:r>
          </a:p>
          <a:p>
            <a:endParaRPr lang="en-FI" dirty="0"/>
          </a:p>
          <a:p>
            <a:r>
              <a:rPr lang="en-FI" b="1" dirty="0"/>
              <a:t>LD — Low diversification:</a:t>
            </a:r>
            <a:r>
              <a:rPr lang="en-FI" dirty="0"/>
              <a:t> concentrated holdings (all-U or all-F) → strong rebalancing pressure, </a:t>
            </a:r>
            <a:r>
              <a:rPr lang="en-FI" i="1" dirty="0"/>
              <a:t>belief-free</a:t>
            </a:r>
          </a:p>
          <a:p>
            <a:r>
              <a:rPr lang="en-FI" b="1" dirty="0"/>
              <a:t>HD — High diversification:</a:t>
            </a:r>
            <a:r>
              <a:rPr lang="en-FI" dirty="0"/>
              <a:t> already balanced (20/20) → no mechanical motive → </a:t>
            </a:r>
            <a:r>
              <a:rPr lang="en-FI" i="1" dirty="0"/>
              <a:t>belief-driven trade only</a:t>
            </a:r>
          </a:p>
          <a:p>
            <a:endParaRPr lang="en-FI" i="1" dirty="0"/>
          </a:p>
          <a:p>
            <a:r>
              <a:rPr lang="en-FI" dirty="0"/>
              <a:t>Fully counterbalanced across 4 rounds</a:t>
            </a:r>
          </a:p>
          <a:p>
            <a:r>
              <a:rPr lang="en-FI" dirty="0"/>
              <a:t>→ separates "I'm rebalancing" from "I disagree with you"</a:t>
            </a:r>
            <a:endParaRPr lang="en-FI" i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487641-FE6E-8681-3220-48BBF4D56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F2C44-E9FE-4226-9AD0-5CEB6EFFCA1C}" type="slidenum">
              <a:rPr lang="en-FI" smtClean="0"/>
              <a:t>37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371329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2311</TotalTime>
  <Words>1401</Words>
  <Application>Microsoft Office PowerPoint</Application>
  <PresentationFormat>Widescreen</PresentationFormat>
  <Paragraphs>242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Wingdings</vt:lpstr>
      <vt:lpstr>Office Theme</vt:lpstr>
      <vt:lpstr>Information Environments and Asset Markets</vt:lpstr>
      <vt:lpstr>Motivation</vt:lpstr>
      <vt:lpstr>Motivation</vt:lpstr>
      <vt:lpstr>Motivation</vt:lpstr>
      <vt:lpstr>Research Questions</vt:lpstr>
      <vt:lpstr>Two assets: Asset F and Asset U</vt:lpstr>
      <vt:lpstr>Two assets × Two information environments</vt:lpstr>
      <vt:lpstr>Simultaneous</vt:lpstr>
      <vt:lpstr>Sequential</vt:lpstr>
      <vt:lpstr>Sequential</vt:lpstr>
      <vt:lpstr>Sequential</vt:lpstr>
      <vt:lpstr>Sequential</vt:lpstr>
      <vt:lpstr>Sequential</vt:lpstr>
      <vt:lpstr>Sequential</vt:lpstr>
      <vt:lpstr>Sequential</vt:lpstr>
      <vt:lpstr>Sequential</vt:lpstr>
      <vt:lpstr>Sequential</vt:lpstr>
      <vt:lpstr>Sequential</vt:lpstr>
      <vt:lpstr>Sequential</vt:lpstr>
      <vt:lpstr>Two assets × Two information environments</vt:lpstr>
      <vt:lpstr>From choice gap to price gap</vt:lpstr>
      <vt:lpstr>Experimental design </vt:lpstr>
      <vt:lpstr>Treatments</vt:lpstr>
      <vt:lpstr>Hypotheses: Trading Volume</vt:lpstr>
      <vt:lpstr>Hypotheses: Prices</vt:lpstr>
      <vt:lpstr>Experimental implementation</vt:lpstr>
      <vt:lpstr>Experimental implementation</vt:lpstr>
      <vt:lpstr>Experimental implementation</vt:lpstr>
      <vt:lpstr>Some first data</vt:lpstr>
      <vt:lpstr>Some first data – Markets</vt:lpstr>
      <vt:lpstr>Some first data – Prices </vt:lpstr>
      <vt:lpstr>Some first data – Beliefs </vt:lpstr>
      <vt:lpstr>Some first data – Trading volume</vt:lpstr>
      <vt:lpstr>Wrap up</vt:lpstr>
      <vt:lpstr>Measures</vt:lpstr>
      <vt:lpstr>Information environments </vt:lpstr>
      <vt:lpstr>Endowments</vt:lpstr>
    </vt:vector>
  </TitlesOfParts>
  <Company>Aalto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Huber Christoph</dc:creator>
  <cp:lastModifiedBy>Huber Christoph</cp:lastModifiedBy>
  <cp:revision>82</cp:revision>
  <dcterms:created xsi:type="dcterms:W3CDTF">2026-06-13T18:55:50Z</dcterms:created>
  <dcterms:modified xsi:type="dcterms:W3CDTF">2026-06-15T09:30:58Z</dcterms:modified>
</cp:coreProperties>
</file>